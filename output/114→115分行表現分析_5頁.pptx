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4→115 分行表現分析" id="{dbcc2ebd-e4a2-fb6e-913f-d50febd14acb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115年落入「未達75%」之比例（依114年級距）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115年未達75%比例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8.3</c:v>
                </c:pt>
                <c:pt idx="7">
                  <c:v>17</c:v>
                </c:pt>
                <c:pt idx="8">
                  <c:v>29.2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115年目標 較114年實績 成長率（依114年達成率級距，群合計）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115年目標較114年實績成長率</c:v>
                </c:pt>
              </c:strCache>
            </c:strRef>
          </c:tx>
          <c:spPr>
            <a:solidFill>
              <a:srgbClr val="D96C6C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-25.1</c:v>
                </c:pt>
                <c:pt idx="1">
                  <c:v>-18.2</c:v>
                </c:pt>
                <c:pt idx="2">
                  <c:v>-6.9</c:v>
                </c:pt>
                <c:pt idx="3">
                  <c:v>-0.5</c:v>
                </c:pt>
                <c:pt idx="4">
                  <c:v>8</c:v>
                </c:pt>
                <c:pt idx="5">
                  <c:v>11</c:v>
                </c:pt>
                <c:pt idx="6">
                  <c:v>21.8</c:v>
                </c:pt>
                <c:pt idx="7">
                  <c:v>42.3</c:v>
                </c:pt>
                <c:pt idx="8">
                  <c:v>77.4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4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115年年化達成率（群合計）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960A1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188.7</c:v>
                </c:pt>
                <c:pt idx="1">
                  <c:v>128.4</c:v>
                </c:pt>
                <c:pt idx="2">
                  <c:v>123.9</c:v>
                </c:pt>
                <c:pt idx="3">
                  <c:v>130.4</c:v>
                </c:pt>
                <c:pt idx="4">
                  <c:v>112</c:v>
                </c:pt>
                <c:pt idx="5">
                  <c:v>105</c:v>
                </c:pt>
                <c:pt idx="6">
                  <c:v>106.1</c:v>
                </c:pt>
                <c:pt idx="7">
                  <c:v>95.7</c:v>
                </c:pt>
                <c:pt idx="8">
                  <c:v>94.6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19家分行合計（億元）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億元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&quot;億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5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A9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115年目標</c:v>
                  </c:pt>
                  <c:pt idx="1">
                    <c:v>115年年化實績</c:v>
                  </c:pt>
                  <c:pt idx="2">
                    <c:v>116年目標
沿用115年規則
（分行目標×115%）</c:v>
                  </c:pt>
                  <c:pt idx="3">
                    <c:v>116年目標
方案1
（預估實績×103%）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10.98</c:v>
                </c:pt>
                <c:pt idx="1">
                  <c:v>7.51</c:v>
                </c:pt>
                <c:pt idx="2">
                  <c:v>12.62</c:v>
                </c:pt>
                <c:pt idx="3">
                  <c:v>7.74</c:v>
                </c:pt>
              </c:numCache>
            </c:numRef>
          </c:val>
        </c:ser>
        <c:dLbls>
          <c:numFmt formatCode="0.00&quot;億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億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114年未達標113家，115年目標以114分行目標加成，較114實績平均拉高41%，115年仍有66家未達標、19家未達75%。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流向矩陣：115年未達75%的19家全部來自114年未達標群；比例隨114年達成率降低而升高。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114年未達75%的分行，115年目標較114實績拉高77%，達成率僅95%；績優分行目標低於實績，達成率近190%。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瀑布：目標117.85億＋超額15.23億−缺口8.23億＝實績124.86億。缺口86%來自114年未達標群。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116目標底稿SUMMARY TYPE_6：19家、成長目標7.74億。若沿用115年規則（分行目標×115%）約12.62億。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64008"/>
            <a:ext cx="143560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336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〔僅供行內教育訓練使用〕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114年未達標分行的「目標懲罰循環」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以 114 年達成率分群，追蹤 183 家分行在 115 年規則下的目標與實績（資料：COMPARE114／財管手收比較表）</a:t>
            </a:r>
            <a:endParaRPr lang="en-US" sz="1300" dirty="0"/>
          </a:p>
        </p:txBody>
      </p:sp>
      <p:sp>
        <p:nvSpPr>
          <p:cNvPr id="4" name="step 1"/>
          <p:cNvSpPr/>
          <p:nvPr/>
        </p:nvSpPr>
        <p:spPr>
          <a:xfrm>
            <a:off x="457200" y="1508760"/>
            <a:ext cx="2697480" cy="457200"/>
          </a:xfrm>
          <a:prstGeom prst="homePlat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 114年未達標</a:t>
            </a:r>
            <a:endParaRPr lang="en-US" sz="1400" dirty="0"/>
          </a:p>
        </p:txBody>
      </p:sp>
      <p:sp>
        <p:nvSpPr>
          <p:cNvPr id="6" name="card 1"/>
          <p:cNvSpPr/>
          <p:nvPr/>
        </p:nvSpPr>
        <p:spPr>
          <a:xfrm>
            <a:off x="457200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F7F7F"/>
                </a:solidFill>
              </a:rPr>
              <a:t>113家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達成率未達100%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占全行 62%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3310128" y="1508760"/>
            <a:ext cx="2697480" cy="457200"/>
          </a:xfrm>
          <a:prstGeom prst="chevron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 115年目標被拉高</a:t>
            </a:r>
            <a:endParaRPr lang="en-US" sz="1400" dirty="0"/>
          </a:p>
        </p:txBody>
      </p:sp>
      <p:sp>
        <p:nvSpPr>
          <p:cNvPr id="11" name="card 2"/>
          <p:cNvSpPr/>
          <p:nvPr/>
        </p:nvSpPr>
        <p:spPr>
          <a:xfrm>
            <a:off x="3310128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+41%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115目標＝114分行目標×105～115%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較114年實績平均拉高41%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6163056" y="1508760"/>
            <a:ext cx="2697480" cy="457200"/>
          </a:xfrm>
          <a:prstGeom prst="chevron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115年持續未達標</a:t>
            </a:r>
            <a:endParaRPr lang="en-US" sz="1400" dirty="0"/>
          </a:p>
        </p:txBody>
      </p:sp>
      <p:sp>
        <p:nvSpPr>
          <p:cNvPr id="16" name="card 3"/>
          <p:cNvSpPr/>
          <p:nvPr/>
        </p:nvSpPr>
        <p:spPr>
          <a:xfrm>
            <a:off x="6163056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66家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 98.7%；66家（58%）仍未達標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19家未達75%，全數來自此群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9015984" y="1508760"/>
            <a:ext cx="2697480" cy="457200"/>
          </a:xfrm>
          <a:prstGeom prst="chevron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458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 缺口由他人填補</a:t>
            </a:r>
            <a:endParaRPr lang="en-US" sz="1400" dirty="0"/>
          </a:p>
        </p:txBody>
      </p:sp>
      <p:sp>
        <p:nvSpPr>
          <p:cNvPr id="21" name="card 4"/>
          <p:cNvSpPr/>
          <p:nvPr/>
        </p:nvSpPr>
        <p:spPr>
          <a:xfrm>
            <a:off x="9015984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7.1億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此群未達成缺口 7.1億（占全行缺口86%）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由超額分行 15.2億 補足</a:t>
            </a:r>
            <a:endParaRPr lang="en-US" sz="1150" dirty="0"/>
          </a:p>
        </p:txBody>
      </p:sp>
      <p:sp>
        <p:nvSpPr>
          <p:cNvPr id="24" name="loop arrow"/>
          <p:cNvSpPr/>
          <p:nvPr/>
        </p:nvSpPr>
        <p:spPr>
          <a:xfrm rot="5400000">
            <a:off x="10881360" y="2011680"/>
            <a:ext cx="822960" cy="457200"/>
          </a:xfrm>
          <a:prstGeom prst="uturnArrow">
            <a:avLst/>
          </a:prstGeom>
          <a:solidFill>
            <a:srgbClr val="C5C5C5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7F7F7F"/>
                </a:solidFill>
              </a:rPr>
              <a:t>116年若沿用相同規則，目標再×115%，循環持續</a:t>
            </a:r>
            <a:endParaRPr lang="en-US" sz="1150" dirty="0"/>
          </a:p>
        </p:txBody>
      </p:sp>
      <p:sp>
        <p:nvSpPr>
          <p:cNvPr id="26" name="chip 兩群對照"/>
          <p:cNvSpPr txBox="1"/>
          <p:nvPr/>
        </p:nvSpPr>
        <p:spPr>
          <a:xfrm>
            <a:off x="457200" y="42062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兩群對照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03904"/>
                <a:gridCol w="381304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115年表現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114年達標群（70家）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114年未達標群（113家）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115年目標 較114年實績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+2.2%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+41.1%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115年達成率（群合計）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116.8%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98.7%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115年仍未達標家數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18家（26%）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66家（58%）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115年未達75%家數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0家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19家（17%）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 → 115年 分行達成率流向矩陣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列＝114年達成率級距（決定115年規則），欄＝115年年化達成率級距；格內為分行家數，顏色越深家數越多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548640"/>
                <a:gridCol w="777240"/>
                <a:gridCol w="777240"/>
                <a:gridCol w="777240"/>
                <a:gridCol w="777240"/>
                <a:gridCol w="7772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114年達成率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115年規則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180%以上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150～180%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120～150%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100～120%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75～100%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未達75%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實績×70%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150～200%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實績×80%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130～150%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實績×90%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120～130%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實績×101%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110～120%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100～110%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2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90～100%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75～90%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D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未達75%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淺紅列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＝114年未達標、115年以「分行目標」加成之分行（113家）；</a:t>
            </a:r>
            <a:pPr indent="0" marL="0">
              <a:buNone/>
            </a:pPr>
            <a:r>
              <a:rPr lang="en-US" sz="1100" b="1" dirty="0">
                <a:solidFill>
                  <a:srgbClr val="960A14"/>
                </a:solidFill>
              </a:rPr>
              <a:t>深紅欄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＝115年未達75%之19家，全部來自淺紅列。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0" y="1463040"/>
          <a:ext cx="3886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5623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114年達成率越低、目標被加成越多，115年落入未達75%的比例越高（8%→17%→29%）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目標拉高幅度 vs 115年達成率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依114年達成率級距彙總（群合計）：上圖＝115年目標較114年實績之成長率，下圖＝115年年化達成率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379476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nsight panel"/>
          <p:cNvSpPr/>
          <p:nvPr/>
        </p:nvSpPr>
        <p:spPr>
          <a:xfrm>
            <a:off x="8503920" y="1417320"/>
            <a:ext cx="3246120" cy="4663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chip 解讀"/>
          <p:cNvSpPr txBox="1"/>
          <p:nvPr/>
        </p:nvSpPr>
        <p:spPr>
          <a:xfrm>
            <a:off x="8641080" y="15544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解讀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011680"/>
            <a:ext cx="301752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績優分行（130%以上）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115年目標反而低於114年實績（−7%～−25%），115年達成率 124%～189%，持續超額。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未達標分行（未達100%）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目標以「分行目標」加成，較114年實績拉高 22%／42%／77%，115年達成率僅 106%／96%／95%。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結論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規則對落後分行加碼最重、對績優分行最寬鬆，形成「越落後、目標越高、越難達成」的反向循環。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115年缺口由誰填補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115年年化：目標 117.85億 → 實績 124.86億（達成 105.9%），整體達標掩蓋了 84 家未達成分行 8.2億 的缺口</a:t>
            </a:r>
            <a:endParaRPr lang="en-US" sz="1300" dirty="0"/>
          </a:p>
        </p:txBody>
      </p:sp>
      <p:sp>
        <p:nvSpPr>
          <p:cNvPr id="4" name="axis"/>
          <p:cNvSpPr/>
          <p:nvPr/>
        </p:nvSpPr>
        <p:spPr>
          <a:xfrm>
            <a:off x="822960" y="5120640"/>
            <a:ext cx="5989320" cy="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5" name="bar 115年目標"/>
          <p:cNvSpPr/>
          <p:nvPr/>
        </p:nvSpPr>
        <p:spPr>
          <a:xfrm>
            <a:off x="822960" y="3488436"/>
            <a:ext cx="1188720" cy="1632204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683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117.85億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115年目標</a:t>
            </a:r>
            <a:endParaRPr lang="en-US" sz="1000" dirty="0"/>
          </a:p>
        </p:txBody>
      </p:sp>
      <p:sp>
        <p:nvSpPr>
          <p:cNvPr id="8" name="bar 115年超額 99家 達標群52＋未達標群47"/>
          <p:cNvSpPr/>
          <p:nvPr/>
        </p:nvSpPr>
        <p:spPr>
          <a:xfrm>
            <a:off x="2423160" y="2095805"/>
            <a:ext cx="1188720" cy="1392631"/>
          </a:xfrm>
          <a:prstGeom prst="rect">
            <a:avLst/>
          </a:prstGeom>
          <a:solidFill>
            <a:srgbClr val="2EA9B6"/>
          </a:solidFill>
          <a:ln w="12700">
            <a:solidFill>
              <a:srgbClr val="2EA9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177576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+15.23億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115年超額 99家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達標群52＋未達標群47</a:t>
            </a:r>
            <a:endParaRPr lang="en-US" sz="1000" dirty="0"/>
          </a:p>
        </p:txBody>
      </p:sp>
      <p:sp>
        <p:nvSpPr>
          <p:cNvPr id="11" name="connector 1"/>
          <p:cNvSpPr/>
          <p:nvPr/>
        </p:nvSpPr>
        <p:spPr>
          <a:xfrm>
            <a:off x="2011680" y="3488436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2" name="bar 115年未達成 84家 達標群18＋未達標群66"/>
          <p:cNvSpPr/>
          <p:nvPr/>
        </p:nvSpPr>
        <p:spPr>
          <a:xfrm>
            <a:off x="4023360" y="2095805"/>
            <a:ext cx="1188720" cy="751637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7576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−8.23億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115年未達成 84家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達標群18＋未達標群66</a:t>
            </a:r>
            <a:endParaRPr lang="en-US" sz="1000" dirty="0"/>
          </a:p>
        </p:txBody>
      </p:sp>
      <p:sp>
        <p:nvSpPr>
          <p:cNvPr id="15" name="connector 2"/>
          <p:cNvSpPr/>
          <p:nvPr/>
        </p:nvSpPr>
        <p:spPr>
          <a:xfrm>
            <a:off x="3611880" y="2095805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6" name="bar 115年年化實績"/>
          <p:cNvSpPr/>
          <p:nvPr/>
        </p:nvSpPr>
        <p:spPr>
          <a:xfrm>
            <a:off x="5623560" y="2847442"/>
            <a:ext cx="1188720" cy="2273198"/>
          </a:xfrm>
          <a:prstGeom prst="rect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52740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124.86億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115年年化實績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</a:rPr>
              <a:t>家數檢核：183家 ＝ 115年超額 99家 ＋ 115年未達成 84家；右表66家為「114年未達標群113家」中115年再次未達成者，其餘47家已超額。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</a:rPr>
              <a:t>單位：億元；縱軸自100億起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A9B6"/>
                </a:solidFill>
              </a:rPr>
              <a:t>超額 15.23億 組成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114達標群 52家：+9.08億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114未達標群 47家：+6.16億</a:t>
            </a:r>
            <a:endParaRPr lang="en-US" sz="1050" dirty="0"/>
          </a:p>
        </p:txBody>
      </p:sp>
      <p:sp>
        <p:nvSpPr>
          <p:cNvPr id="21" name="gap panel"/>
          <p:cNvSpPr/>
          <p:nvPr/>
        </p:nvSpPr>
        <p:spPr>
          <a:xfrm>
            <a:off x="6949440" y="1417320"/>
            <a:ext cx="4800600" cy="4663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2" name="chip 缺口 8.23億 來自誰"/>
          <p:cNvSpPr txBox="1"/>
          <p:nvPr/>
        </p:nvSpPr>
        <p:spPr>
          <a:xfrm>
            <a:off x="7086600" y="155448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缺口 8.23億 來自誰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057400"/>
          <a:ext cx="4526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097280"/>
                <a:gridCol w="868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115年未達成家數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未達成缺口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達標群（≥100%）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18家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−1.13億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未達標群（&lt;100%）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66家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−7.10億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　其中 90～100%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16家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−1.49億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　其中 75～90%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32家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−3.43億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　其中 未達75%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18家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−2.18億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84家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−8.23億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7086600" y="4709160"/>
            <a:ext cx="45262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114年未達標群113家中，115年有66家再次未達成、缺口 7.1億，占全行缺口 86%；其餘47家超額 6.2億。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這些缺口由 99 家超額分行（多為績優分行）的 15.2億 填補，全行仍達成 105.9%，使結構問題在總數中被掩蓋。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目標加成並未換來實績，只是把缺口轉嫁到其他分行。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打破循環：116年方案1對未達75%分行的效果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115年未達75%之19家分行（115年目標 10.98億、年化實績 7.51億、達成率 68%）在兩種116年規則下的目標比較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沿用115年規則"/>
          <p:cNvSpPr/>
          <p:nvPr/>
        </p:nvSpPr>
        <p:spPr>
          <a:xfrm>
            <a:off x="7315200" y="146304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554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沿用115年規則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874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12.62億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+68%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目標再疊加 15%，與實績差距擴大至 5.1億，第三年落入同一循環</a:t>
            </a:r>
            <a:endParaRPr lang="en-US" sz="1150" dirty="0"/>
          </a:p>
        </p:txBody>
      </p:sp>
      <p:sp>
        <p:nvSpPr>
          <p:cNvPr id="9" name="card 116年方案1"/>
          <p:cNvSpPr/>
          <p:nvPr/>
        </p:nvSpPr>
        <p:spPr>
          <a:xfrm>
            <a:off x="7315200" y="338328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3474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9B6"/>
                </a:solidFill>
              </a:rPr>
              <a:t>116年方案1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794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7.74億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+3%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343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回到實績基礎，目標可達；差額 4.9億 改由 綜合指標（15%）與績優分行承擔</a:t>
            </a:r>
            <a:endParaRPr lang="en-US" sz="1150" dirty="0"/>
          </a:p>
        </p:txBody>
      </p:sp>
      <p:sp>
        <p:nvSpPr>
          <p:cNvPr id="13" name="conclusion box"/>
          <p:cNvSpPr/>
          <p:nvPr/>
        </p:nvSpPr>
        <p:spPr>
          <a:xfrm>
            <a:off x="7315200" y="5349240"/>
            <a:ext cx="4434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</a:rPr>
              <a:t>建議：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落後分行以實績為基礎設定地板、績優分行以折扣設定天花板，讓目標回到「可達成且有成長」的區間。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CB Red">
  <a:themeElements>
    <a:clrScheme name="HNCB Red">
      <a:dk1>
        <a:srgbClr val="000000"/>
      </a:dk1>
      <a:lt1>
        <a:srgbClr val="FFFFFF"/>
      </a:lt1>
      <a:dk2>
        <a:srgbClr val="960A14"/>
      </a:dk2>
      <a:lt2>
        <a:srgbClr val="FDF1E9"/>
      </a:lt2>
      <a:accent1>
        <a:srgbClr val="C00000"/>
      </a:accent1>
      <a:accent2>
        <a:srgbClr val="7F7F7F"/>
      </a:accent2>
      <a:accent3>
        <a:srgbClr val="D96C6C"/>
      </a:accent3>
      <a:accent4>
        <a:srgbClr val="2EA9B6"/>
      </a:accent4>
      <a:accent5>
        <a:srgbClr val="C5C5C5"/>
      </a:accent5>
      <a:accent6>
        <a:srgbClr val="FFC000"/>
      </a:accent6>
      <a:hlink>
        <a:srgbClr val="C00000"/>
      </a:hlink>
      <a:folHlink>
        <a:srgbClr val="960A14"/>
      </a:folHlink>
    </a:clrScheme>
    <a:fontScheme name="HNCB Red">
      <a:majorFont>
        <a:latin typeface="微軟正黑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財富管理手續費收入目標訂定原則比較（115年 vs 116年方案1/方案2）</dc:title>
  <dc:subject>PptxGenJS Presentation</dc:subject>
  <dc:creator>PptxGenJS</dc:creator>
  <cp:lastModifiedBy>PptxGenJS</cp:lastModifiedBy>
  <cp:revision>1</cp:revision>
  <dcterms:created xsi:type="dcterms:W3CDTF">2026-10-21T02:07:45Z</dcterms:created>
  <dcterms:modified xsi:type="dcterms:W3CDTF">2026-10-21T02:07:45Z</dcterms:modified>
</cp:coreProperties>
</file>