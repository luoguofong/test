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1" r:id="rId101"/>
    <p:sldId id="302" r:id="rId102"/>
    <p:sldId id="303" r:id="rId103"/>
    <p:sldId id="304" r:id="rId104"/>
    <p:sldId id="305" r:id="rId105"/>
    <p:sldId id="306" r:id="rId106"/>
    <p:sldId id="307" r:id="rId10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5年度 目標訂定原則（現行）" id="{002A102D-150F-FB82-357B-860345E521EA}">
          <p14:sldIdLst>
            <p14:sldId id="256"/>
            <p14:sldId id="257"/>
          </p14:sldIdLst>
        </p14:section>
        <p14:section name="116年度 方案1 vs 方案2 比較" id="{493CF13A-0D13-414E-79CB-8CFCADEC4E83}">
          <p14:sldIdLst>
            <p14:sldId id="258"/>
            <p14:sldId id="259"/>
            <p14:sldId id="260"/>
          </p14:sldIdLst>
        </p14:section>
        <p14:section name="指標權重調整整理" id="{5F4C1F11-707C-32CF-648C-25CBE2FF82F9}">
          <p14:sldIdLst>
            <p14:sldId id="261"/>
          </p14:sldIdLst>
        </p14:section>
        <p14:section name="目標調整原則與待確認事項" id="{C84876A3-9F8B-30E0-DC6D-6B6626F486D3}">
          <p14:sldIdLst>
            <p14:sldId id="262"/>
            <p14:sldId id="263"/>
          </p14:sldIdLst>
        </p14:section>
        <p14:section name="114→115 分行表現分析" id="{06D81E1A-27C0-4AEB-A698-55C16EF25A90}">
          <p14:sldIdLst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01" Type="http://schemas.openxmlformats.org/officeDocument/2006/relationships/slide" Target="slides/slide9.xml"/><Relationship Id="rId102" Type="http://schemas.openxmlformats.org/officeDocument/2006/relationships/slide" Target="slides/slide10.xml"/><Relationship Id="rId103" Type="http://schemas.openxmlformats.org/officeDocument/2006/relationships/slide" Target="slides/slide11.xml"/><Relationship Id="rId104" Type="http://schemas.openxmlformats.org/officeDocument/2006/relationships/slide" Target="slides/slide12.xml"/><Relationship Id="rId105" Type="http://schemas.openxmlformats.org/officeDocument/2006/relationships/slide" Target="slides/slide13.xml"/><Relationship Id="rId106" Type="http://schemas.openxmlformats.org/officeDocument/2006/relationships/slide" Target="slides/slide14.xml"/><Relationship Id="rId107" Type="http://schemas.openxmlformats.org/officeDocument/2006/relationships/slide" Target="slides/slide1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綜合指標權重：115年 vs 116年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</c:v>
                </c:pt>
              </c:strCache>
            </c:strRef>
          </c:tx>
          <c:spPr>
            <a:solidFill>
              <a:srgbClr val="C5C5C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平均手續費收入</c:v>
                </c:pt>
                <c:pt idx="1">
                  <c:v>存款</c:v>
                </c:pt>
                <c:pt idx="2">
                  <c:v>投資類AUM</c:v>
                </c:pt>
                <c:pt idx="3">
                  <c:v>人數</c:v>
                </c:pt>
                <c:pt idx="4">
                  <c:v>組別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66-4AF7-9553-B612310C8F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116年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平均手續費收入</c:v>
                </c:pt>
                <c:pt idx="1">
                  <c:v>存款</c:v>
                </c:pt>
                <c:pt idx="2">
                  <c:v>投資類AUM</c:v>
                </c:pt>
                <c:pt idx="3">
                  <c:v>人數</c:v>
                </c:pt>
                <c:pt idx="4">
                  <c:v>組別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66-4AF7-9553-B612310C8F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各通路區達成率：115年 vs 114年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115年達成率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北二區</c:v>
                  </c:pt>
                  <c:pt idx="1">
                    <c:v>北一區</c:v>
                  </c:pt>
                  <c:pt idx="2">
                    <c:v>北三區</c:v>
                  </c:pt>
                  <c:pt idx="3">
                    <c:v>中區</c:v>
                  </c:pt>
                  <c:pt idx="4">
                    <c:v>南區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113.9</c:v>
                </c:pt>
                <c:pt idx="1">
                  <c:v>107</c:v>
                </c:pt>
                <c:pt idx="2">
                  <c:v>102.8</c:v>
                </c:pt>
                <c:pt idx="3">
                  <c:v>102.7</c:v>
                </c:pt>
                <c:pt idx="4">
                  <c:v>101.8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114年達成率</c:v>
                </c:pt>
              </c:strCache>
            </c:strRef>
          </c:tx>
          <c:spPr>
            <a:solidFill>
              <a:srgbClr val="C5C5C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北二區</c:v>
                  </c:pt>
                  <c:pt idx="1">
                    <c:v>北一區</c:v>
                  </c:pt>
                  <c:pt idx="2">
                    <c:v>北三區</c:v>
                  </c:pt>
                  <c:pt idx="3">
                    <c:v>中區</c:v>
                  </c:pt>
                  <c:pt idx="4">
                    <c:v>南區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97.5</c:v>
                </c:pt>
                <c:pt idx="1">
                  <c:v>88.9</c:v>
                </c:pt>
                <c:pt idx="2">
                  <c:v>96.4</c:v>
                </c:pt>
                <c:pt idx="3">
                  <c:v>105.3</c:v>
                </c:pt>
                <c:pt idx="4">
                  <c:v>102.4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8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115年年化達成率分布（分行家數）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未達標（&lt;100%）84家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未達60%</c:v>
                  </c:pt>
                  <c:pt idx="1">
                    <c:v>60～70%</c:v>
                  </c:pt>
                  <c:pt idx="2">
                    <c:v>70～75%</c:v>
                  </c:pt>
                  <c:pt idx="3">
                    <c:v>75～80%</c:v>
                  </c:pt>
                  <c:pt idx="4">
                    <c:v>80～90%</c:v>
                  </c:pt>
                  <c:pt idx="5">
                    <c:v>90～100%</c:v>
                  </c:pt>
                  <c:pt idx="6">
                    <c:v>100～110%</c:v>
                  </c:pt>
                  <c:pt idx="7">
                    <c:v>110～120%</c:v>
                  </c:pt>
                  <c:pt idx="8">
                    <c:v>120～130%</c:v>
                  </c:pt>
                  <c:pt idx="9">
                    <c:v>130～150%</c:v>
                  </c:pt>
                  <c:pt idx="10">
                    <c:v>150～180%</c:v>
                  </c:pt>
                  <c:pt idx="11">
                    <c:v>180%以上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24</c:v>
                </c:pt>
                <c:pt idx="5">
                  <c:v>29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達標（≥100%）99家</c:v>
                </c:pt>
              </c:strCache>
            </c:strRef>
          </c:tx>
          <c:spPr>
            <a:solidFill>
              <a:srgbClr val="2EA9B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未達60%</c:v>
                  </c:pt>
                  <c:pt idx="1">
                    <c:v>60～70%</c:v>
                  </c:pt>
                  <c:pt idx="2">
                    <c:v>70～75%</c:v>
                  </c:pt>
                  <c:pt idx="3">
                    <c:v>75～80%</c:v>
                  </c:pt>
                  <c:pt idx="4">
                    <c:v>80～90%</c:v>
                  </c:pt>
                  <c:pt idx="5">
                    <c:v>90～100%</c:v>
                  </c:pt>
                  <c:pt idx="6">
                    <c:v>100～110%</c:v>
                  </c:pt>
                  <c:pt idx="7">
                    <c:v>110～120%</c:v>
                  </c:pt>
                  <c:pt idx="8">
                    <c:v>120～130%</c:v>
                  </c:pt>
                  <c:pt idx="9">
                    <c:v>130～150%</c:v>
                  </c:pt>
                  <c:pt idx="10">
                    <c:v>150～180%</c:v>
                  </c:pt>
                  <c:pt idx="11">
                    <c:v>180%以上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25</c:v>
                </c:pt>
                <c:pt idx="7">
                  <c:v>27</c:v>
                </c:pt>
                <c:pt idx="8">
                  <c:v>17</c:v>
                </c:pt>
                <c:pt idx="9">
                  <c:v>23</c:v>
                </c:pt>
                <c:pt idx="10">
                  <c:v>4</c:v>
                </c:pt>
                <c:pt idx="11">
                  <c:v>3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115年落入「未達75%」之比例（依114年級距）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115年未達75%比例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8.3</c:v>
                </c:pt>
                <c:pt idx="7">
                  <c:v>17</c:v>
                </c:pt>
                <c:pt idx="8">
                  <c:v>29.2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115年目標 較114年實績 成長率（依114年達成率級距，群合計）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115年目標較114年實績成長率</c:v>
                </c:pt>
              </c:strCache>
            </c:strRef>
          </c:tx>
          <c:spPr>
            <a:solidFill>
              <a:srgbClr val="D96C6C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-25.1</c:v>
                </c:pt>
                <c:pt idx="1">
                  <c:v>-18.2</c:v>
                </c:pt>
                <c:pt idx="2">
                  <c:v>-6.9</c:v>
                </c:pt>
                <c:pt idx="3">
                  <c:v>-0.5</c:v>
                </c:pt>
                <c:pt idx="4">
                  <c:v>8</c:v>
                </c:pt>
                <c:pt idx="5">
                  <c:v>11</c:v>
                </c:pt>
                <c:pt idx="6">
                  <c:v>21.8</c:v>
                </c:pt>
                <c:pt idx="7">
                  <c:v>42.3</c:v>
                </c:pt>
                <c:pt idx="8">
                  <c:v>77.4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4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115年年化達成率（群合計）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115年達成率</c:v>
                </c:pt>
              </c:strCache>
            </c:strRef>
          </c:tx>
          <c:spPr>
            <a:solidFill>
              <a:srgbClr val="960A1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188.7</c:v>
                </c:pt>
                <c:pt idx="1">
                  <c:v>128.4</c:v>
                </c:pt>
                <c:pt idx="2">
                  <c:v>123.9</c:v>
                </c:pt>
                <c:pt idx="3">
                  <c:v>130.4</c:v>
                </c:pt>
                <c:pt idx="4">
                  <c:v>112</c:v>
                </c:pt>
                <c:pt idx="5">
                  <c:v>105</c:v>
                </c:pt>
                <c:pt idx="6">
                  <c:v>106.1</c:v>
                </c:pt>
                <c:pt idx="7">
                  <c:v>95.7</c:v>
                </c:pt>
                <c:pt idx="8">
                  <c:v>94.6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19家分行合計（億元）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億元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&quot;億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5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A9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115年目標</c:v>
                  </c:pt>
                  <c:pt idx="1">
                    <c:v>115年年化實績</c:v>
                  </c:pt>
                  <c:pt idx="2">
                    <c:v>116年目標
沿用115年規則
（分行目標×115%）</c:v>
                  </c:pt>
                  <c:pt idx="3">
                    <c:v>116年目標
方案1
（預估實績×103%）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10.98</c:v>
                </c:pt>
                <c:pt idx="1">
                  <c:v>7.51</c:v>
                </c:pt>
                <c:pt idx="2">
                  <c:v>12.62</c:v>
                </c:pt>
                <c:pt idx="3">
                  <c:v>7.74</c:v>
                </c:pt>
              </c:numCache>
            </c:numRef>
          </c:val>
        </c:ser>
        <c:dLbls>
          <c:numFmt formatCode="0.00&quot;億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億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62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115年度現行規則：計算基礎118億元，成長目標95%＋綜合指標5%。績優分行以預估實績折減為90%/80%/70%。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115年綜合指標五項：平均手收30%、存款25%、投資AUM 20%、人數22%、組別3%。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116年兩方案總覽：方案1 140億、85/15；方案2 130億、91/9。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成長目標級距三版本並列比較。方案2「120%以上」文字為維持115年目標，但公式寫分行目標×120%，待確認。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綜合指標規則比較：方案1與方案2規則相同，僅佔比不同。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權重調整：平均手收 -10%、存款持平、投資AUM +5%、人數 +3%、組別 +2%。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六項目標調整原則，三份文件內容一致。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文件待確認事項清單。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115年達成說明：目標117.85億、年化實績124.86億、達成105.9%；達標99家（54%）；北二區113.9%最高。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114年未達標113家，115年目標以114分行目標加成，較114實績平均拉高41%，115年仍有66家未達標、19家未達75%。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115年達成率分布：99家達標（54%）、84家未達標（46%）；中位數101%；75～100%共65家為最大族群。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流向矩陣：115年未達75%的19家全部來自114年未達標群；比例隨114年達成率降低而升高。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114年未達75%的分行，115年目標較114實績拉高77%，達成率僅95%；績優分行目標低於實績，達成率近190%。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瀑布：目標117.85億＋超額15.23億−缺口8.23億＝實績124.86億。超額60%來自114年達標群；缺口86%來自114年未達標群。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116目標底稿SUMMARY TYPE_6：19家、成長目標7.74億。若沿用115年規則（分行目標×115%）約12.62億。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64008"/>
            <a:ext cx="143560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336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〔僅供行內教育訓練使用〕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115年度 財富管理手續費收入目標訂定原則</a:t>
            </a:r>
            <a:endParaRPr lang="en-US" sz="3000" dirty="0"/>
          </a:p>
        </p:txBody>
      </p:sp>
      <p:sp>
        <p:nvSpPr>
          <p:cNvPr id="3" name="chip 計算基礎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計算基礎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115年度國內營業單位財富管理業務手續費收入目標以 </a:t>
            </a:r>
            <a:r>
              <a:rPr lang="en-US" sz="1800" b="1" dirty="0">
                <a:solidFill>
                  <a:srgbClr val="C00000"/>
                </a:solidFill>
              </a:rPr>
              <a:t>118億元</a:t>
            </a:r>
            <a:r>
              <a:rPr lang="en-US" sz="1600" dirty="0">
                <a:solidFill>
                  <a:srgbClr val="000000"/>
                </a:solidFill>
              </a:rPr>
              <a:t> 為計算基礎</a:t>
            </a:r>
            <a:endParaRPr lang="en-US" sz="1600" dirty="0"/>
          </a:p>
        </p:txBody>
      </p:sp>
      <p:sp>
        <p:nvSpPr>
          <p:cNvPr id="5" name="chip 訂定方式"/>
          <p:cNvSpPr txBox="1"/>
          <p:nvPr/>
        </p:nvSpPr>
        <p:spPr>
          <a:xfrm>
            <a:off x="457200" y="1691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訂定方式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645920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「115年成長目標」</a:t>
            </a:r>
            <a:r>
              <a:rPr lang="en-US" sz="1600" b="1" dirty="0">
                <a:solidFill>
                  <a:srgbClr val="C00000"/>
                </a:solidFill>
              </a:rPr>
              <a:t>佔95%</a:t>
            </a:r>
            <a:r>
              <a:rPr lang="en-US" sz="1600" dirty="0">
                <a:solidFill>
                  <a:srgbClr val="000000"/>
                </a:solidFill>
              </a:rPr>
              <a:t>　＋　「營業單位綜合指標之目標」</a:t>
            </a:r>
            <a:r>
              <a:rPr lang="en-US" sz="1600" b="1" dirty="0">
                <a:solidFill>
                  <a:srgbClr val="C00000"/>
                </a:solidFill>
              </a:rPr>
              <a:t>佔5%</a:t>
            </a:r>
            <a:endParaRPr lang="en-US" sz="1600" dirty="0"/>
          </a:p>
        </p:txBody>
      </p:sp>
      <p:sp>
        <p:nvSpPr>
          <p:cNvPr id="7" name="chip 成長目標（佔95%）"/>
          <p:cNvSpPr txBox="1"/>
          <p:nvPr/>
        </p:nvSpPr>
        <p:spPr>
          <a:xfrm>
            <a:off x="457200" y="22860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成長目標（佔95%）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6675120" cy="268833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114年年化達成率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115年成長目標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計算公式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114年預估實績成長1%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101%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110%以上，未達120%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114年預估實績成長3%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103%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100%以上，未達110%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114年預估實績成長5%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105%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90%以上，未達100%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114年分行目標成長5%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114年分行目標 × 105%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75%以上，未達90%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114年分行目標成長10%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114年分行目標 × 110%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114年分行目標成長15%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114年分行目標 × 115%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panel"/>
          <p:cNvSpPr/>
          <p:nvPr/>
        </p:nvSpPr>
        <p:spPr>
          <a:xfrm>
            <a:off x="7452360" y="2286000"/>
            <a:ext cx="4297680" cy="37947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hip 特別考量"/>
          <p:cNvSpPr txBox="1"/>
          <p:nvPr/>
        </p:nvSpPr>
        <p:spPr>
          <a:xfrm>
            <a:off x="7635240" y="24231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特別考量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880360"/>
            <a:ext cx="397764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績優分行（折減目標）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達成率 130%～150%：115年成長目標＝114年預估實績之 90%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達成率 150%～200%：＝114年預估實績之 80%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達成率 200% 以上：＝114年預估實績之 70%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其他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近三年成立之分行目標另定之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依個別分行特殊狀況增減目標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「114年預估實績」＝114年1-10月年化實績；「114年分行目標」＝114年年末調整後之分行目標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115年度 營業單位綜合指標訂定規則（佔5%）</a:t>
            </a:r>
            <a:endParaRPr lang="en-US" sz="3000" dirty="0"/>
          </a:p>
        </p:txBody>
      </p:sp>
      <p:sp>
        <p:nvSpPr>
          <p:cNvPr id="3" name="chip 指標組成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指標組成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綜合指標由 </a:t>
            </a:r>
            <a:r>
              <a:rPr lang="en-US" sz="1500" b="1" dirty="0">
                <a:solidFill>
                  <a:srgbClr val="C00000"/>
                </a:solidFill>
              </a:rPr>
              <a:t>5 項指標</a:t>
            </a:r>
            <a:r>
              <a:rPr lang="en-US" sz="1500" dirty="0">
                <a:solidFill>
                  <a:srgbClr val="000000"/>
                </a:solidFill>
              </a:rPr>
              <a:t> 組成，各指標目標分配數 ＝ 計算基礎 × 係數；係數以該指標目標分配數 ÷ 全行加權基礎推算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138160" cy="40690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計算基礎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係數／單位目標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最近3年財管平均手續費收入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最近3年（112年、113年、114年1-10月年化）平均財管手收，達成率以100%為上限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0.02968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國內自然人台外幣活期(儲)及定期(儲)存款 114年1-10月加權月平均餘額（活期×0.6、定期×1.4；80歲以上排除、65-80歲×50%）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0.00015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投資類AUM指標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（基金＋保險＋外國債）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理財客戶基金(不含貨幣型)、外國債券及人身保險實收總保費 114年1-10月加權月平均餘額（基金×1、外國債/保險×0.8）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0.00030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人數指標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22%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114年1-10月月底平均人數（扣除臨時人員；外匯統轄行以95%計）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25,259元／人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組別指標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依114年組別（1～8組）給予權重 1.7～0.3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18萬元～4萬元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（見右表）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hip 組別指標（權重3%）"/>
          <p:cNvSpPr txBox="1"/>
          <p:nvPr/>
        </p:nvSpPr>
        <p:spPr>
          <a:xfrm>
            <a:off x="8869680" y="173736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組別指標（權重3%）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69680" y="2194560"/>
          <a:ext cx="2834640" cy="296265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114年組別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目標分配數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18萬元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16萬元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14萬元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12萬元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10萬元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8萬元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6萬元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4萬元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</a:rPr>
              <a:t>※ 綜合指標目標分配數＝118億 × 5% ＝ 5.9億元，依上列權重分配至各指標。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116年度 目標訂定原則：方案1 vs 方案2 總覽</a:t>
            </a:r>
            <a:endParaRPr lang="en-US" sz="3000" dirty="0"/>
          </a:p>
        </p:txBody>
      </p:sp>
      <p:sp>
        <p:nvSpPr>
          <p:cNvPr id="3" name="chip 比較基礎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比較基礎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116年度兩方案皆沿用「成長目標 ＋ 綜合指標」架構，差異在 </a:t>
            </a:r>
            <a:r>
              <a:rPr lang="en-US" sz="1500" b="1" dirty="0">
                <a:solidFill>
                  <a:srgbClr val="C00000"/>
                </a:solidFill>
              </a:rPr>
              <a:t>計算基礎金額、兩者佔比及成長目標級距設計</a:t>
            </a:r>
            <a:endParaRPr lang="en-US" sz="1500" dirty="0"/>
          </a:p>
        </p:txBody>
      </p:sp>
      <p:sp>
        <p:nvSpPr>
          <p:cNvPr id="5" name="card 計算基礎"/>
          <p:cNvSpPr/>
          <p:nvPr/>
        </p:nvSpPr>
        <p:spPr>
          <a:xfrm>
            <a:off x="457200" y="1783080"/>
            <a:ext cx="3566160" cy="2743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計算基礎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F7F"/>
                </a:solidFill>
              </a:rPr>
              <a:t>118 億元</a:t>
            </a:r>
            <a:endParaRPr lang="en-US" sz="2400" dirty="0"/>
          </a:p>
        </p:txBody>
      </p:sp>
      <p:sp>
        <p:nvSpPr>
          <p:cNvPr id="9" name="arrow"/>
          <p:cNvSpPr/>
          <p:nvPr/>
        </p:nvSpPr>
        <p:spPr>
          <a:xfrm>
            <a:off x="2057400" y="3127248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</a:rPr>
              <a:t>140 億元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60A14"/>
                </a:solidFill>
              </a:rPr>
              <a:t>130 億元</a:t>
            </a:r>
            <a:endParaRPr lang="en-US" sz="2600" dirty="0"/>
          </a:p>
        </p:txBody>
      </p:sp>
      <p:sp>
        <p:nvSpPr>
          <p:cNvPr id="14" name="divider"/>
          <p:cNvSpPr/>
          <p:nvPr/>
        </p:nvSpPr>
        <p:spPr>
          <a:xfrm>
            <a:off x="2240280" y="3566160"/>
            <a:ext cx="0" cy="77724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ard 成長目標佔比"/>
          <p:cNvSpPr/>
          <p:nvPr/>
        </p:nvSpPr>
        <p:spPr>
          <a:xfrm>
            <a:off x="4297680" y="1783080"/>
            <a:ext cx="3566160" cy="2743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4805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成長目標佔比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F7F"/>
                </a:solidFill>
              </a:rPr>
              <a:t>95%</a:t>
            </a:r>
            <a:endParaRPr lang="en-US" sz="2400" dirty="0"/>
          </a:p>
        </p:txBody>
      </p:sp>
      <p:sp>
        <p:nvSpPr>
          <p:cNvPr id="19" name="arrow"/>
          <p:cNvSpPr/>
          <p:nvPr/>
        </p:nvSpPr>
        <p:spPr>
          <a:xfrm>
            <a:off x="5897880" y="3127248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44805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</a:rPr>
              <a:t>85%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60A14"/>
                </a:solidFill>
              </a:rPr>
              <a:t>91%</a:t>
            </a:r>
            <a:endParaRPr lang="en-US" sz="2600" dirty="0"/>
          </a:p>
        </p:txBody>
      </p:sp>
      <p:sp>
        <p:nvSpPr>
          <p:cNvPr id="24" name="divider"/>
          <p:cNvSpPr/>
          <p:nvPr/>
        </p:nvSpPr>
        <p:spPr>
          <a:xfrm>
            <a:off x="6080760" y="3566160"/>
            <a:ext cx="0" cy="77724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ard 綜合指標佔比"/>
          <p:cNvSpPr/>
          <p:nvPr/>
        </p:nvSpPr>
        <p:spPr>
          <a:xfrm>
            <a:off x="8138160" y="1783080"/>
            <a:ext cx="3566160" cy="2743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83210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綜合指標佔比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F7F"/>
                </a:solidFill>
              </a:rPr>
              <a:t>5%</a:t>
            </a:r>
            <a:endParaRPr lang="en-US" sz="2400" dirty="0"/>
          </a:p>
        </p:txBody>
      </p:sp>
      <p:sp>
        <p:nvSpPr>
          <p:cNvPr id="29" name="arrow"/>
          <p:cNvSpPr/>
          <p:nvPr/>
        </p:nvSpPr>
        <p:spPr>
          <a:xfrm>
            <a:off x="9738360" y="3127248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832104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</a:rPr>
              <a:t>15%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60A14"/>
                </a:solidFill>
              </a:rPr>
              <a:t>9%</a:t>
            </a:r>
            <a:endParaRPr lang="en-US" sz="2600" dirty="0"/>
          </a:p>
        </p:txBody>
      </p:sp>
      <p:sp>
        <p:nvSpPr>
          <p:cNvPr id="34" name="divider"/>
          <p:cNvSpPr/>
          <p:nvPr/>
        </p:nvSpPr>
        <p:spPr>
          <a:xfrm>
            <a:off x="9921240" y="3566160"/>
            <a:ext cx="0" cy="77724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ummary box"/>
          <p:cNvSpPr/>
          <p:nvPr/>
        </p:nvSpPr>
        <p:spPr>
          <a:xfrm>
            <a:off x="457200" y="4800600"/>
            <a:ext cx="1127455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chip 重　點"/>
          <p:cNvSpPr txBox="1"/>
          <p:nvPr/>
        </p:nvSpPr>
        <p:spPr>
          <a:xfrm>
            <a:off x="594360" y="51663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重　點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4846320"/>
            <a:ext cx="96926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方案1：</a:t>
            </a:r>
            <a:r>
              <a:rPr lang="en-US" sz="1400" dirty="0">
                <a:solidFill>
                  <a:srgbClr val="000000"/>
                </a:solidFill>
              </a:rPr>
              <a:t>基礎較高（140億）、綜合指標佔比拉高至15%，成長目標分6級，達成率120%以上即以預估實績折減（70%～90%）。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60A14"/>
                </a:solidFill>
              </a:rPr>
              <a:t>方案2：</a:t>
            </a:r>
            <a:r>
              <a:rPr lang="en-US" sz="1400" dirty="0">
                <a:solidFill>
                  <a:srgbClr val="000000"/>
                </a:solidFill>
              </a:rPr>
              <a:t>基礎130億、綜合指標9%，成長目標簡化為4級，高達成率分行以「分行目標」為基準，未達80%者以目標之80%再成長20%。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成長目標規則比較（115年 vs 116年兩方案）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657600" cy="362407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115年（現行）佔95%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依114年年化達成率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115年成長目標（公式）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101%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110%～120%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103%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100%～110%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105%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90%～100%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114年分行目標 × 105%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75%～90%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114年分行目標 × 110%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114年分行目標 × 115%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0248" y="1188720"/>
          <a:ext cx="3657600" cy="362407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116年 方案1　佔85%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依115年年化達成率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116年成長目標（公式）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70%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150%～180%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120%～150%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90%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101%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102%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103%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1188720"/>
          <a:ext cx="3657600" cy="307543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116年 方案2　佔91%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依115年年化達成率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116年成長目標（公式）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維持115年目標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（公式：分行目標 × 120%）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101%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103%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115年分行目標 × 80% × 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notes panel"/>
          <p:cNvSpPr/>
          <p:nvPr/>
        </p:nvSpPr>
        <p:spPr>
          <a:xfrm>
            <a:off x="457200" y="4800600"/>
            <a:ext cx="11274552" cy="13716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chip 特別考量差異"/>
          <p:cNvSpPr txBox="1"/>
          <p:nvPr/>
        </p:nvSpPr>
        <p:spPr>
          <a:xfrm>
            <a:off x="594360" y="49377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特別考量差異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2377440" y="4846320"/>
            <a:ext cx="923544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115年：</a:t>
            </a:r>
            <a:r>
              <a:rPr lang="en-US" sz="1200" dirty="0">
                <a:solidFill>
                  <a:srgbClr val="000000"/>
                </a:solidFill>
              </a:rPr>
              <a:t>績優分行另列（130%／150%／200% 門檻 → 預估實績之 90%／80%／70%）；達成率未達100%者以「分行目標」為基準加成。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</a:rPr>
              <a:t>方案1：</a:t>
            </a:r>
            <a:r>
              <a:rPr lang="en-US" sz="1200" dirty="0">
                <a:solidFill>
                  <a:srgbClr val="000000"/>
                </a:solidFill>
              </a:rPr>
              <a:t>取消績優分行獨立條款，折減直接併入級距（120%以上即折減）；全級距皆以「預估實績」為基準，未達100%者僅成長2%～3%。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960A14"/>
                </a:solidFill>
              </a:rPr>
              <a:t>方案2：</a:t>
            </a:r>
            <a:r>
              <a:rPr lang="en-US" sz="1200" dirty="0">
                <a:solidFill>
                  <a:srgbClr val="000000"/>
                </a:solidFill>
              </a:rPr>
              <a:t>級距簡化為4級；120%以上「維持115年目標」、未達80%以「分行目標×80%×120%」計算。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三者共同：</a:t>
            </a:r>
            <a:r>
              <a:rPr lang="en-US" sz="1200" dirty="0">
                <a:solidFill>
                  <a:srgbClr val="000000"/>
                </a:solidFill>
              </a:rPr>
              <a:t>近三年成立分行另定、依個別分行特殊狀況增減、預估實績採1-10月年化、分行目標為年末調整後目標。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綜合指標訂定規則比較（115年 vs 116年兩方案）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2245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115年（現行）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116年 方案1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116年 方案2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綜合指標佔比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F7F7F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15%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（文件小標註記7%，待確認）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60A14"/>
                          </a:solidFill>
                        </a:rPr>
                        <a:t>9%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平均手續費收入指標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最近3年（112、113、114年1-10月年化）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30%，× 0.02968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前2年（113年及114年）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20%，× 0.06582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20%，× 0.06582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114年1-10月加權月平均餘額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0.00015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114年1-10月加權月平均餘額（依文件）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0.00054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0.00054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投資類AUM指標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（基金＋保險＋外國債）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114年1-10月加權月平均餘額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20%，× 0.00030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115年1-10月加權月平均餘額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0.00124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0.00124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人數指標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114年1-10月月底平均人數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22%，× 25,259元／人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115年1-10月月底平均人數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109,768元／人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109,768元／人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組別指標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依114年組別，權重 3%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第1組18萬元 ～ 第8組4萬元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依115年組別，權重 5%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第1組111萬元 ～ 第8組20萬元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5%，111萬元 ～ 20萬元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50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</a:rPr>
              <a:t>※ 方案1與方案2之綜合指標五項規則（指標期間、權重、係數、組別分配數）完全相同，兩者僅「綜合指標佔比」不同（15% vs 9%）。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618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</a:rPr>
              <a:t>※ 116年兩方案文件之【註2】【註4】【註6】仍沿用115年文字（係數0.00015／0.00030／25,259、分母以114年資料計），與正文係數不一致，待確認更新。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指標權重調整整理：115年 → 116年</a:t>
            </a:r>
            <a:endParaRPr lang="en-US" sz="3000" dirty="0"/>
          </a:p>
        </p:txBody>
      </p:sp>
      <p:sp>
        <p:nvSpPr>
          <p:cNvPr id="3" name="chip 整體架構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整體架構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綜合指標佔比由 </a:t>
            </a:r>
            <a:r>
              <a:rPr lang="en-US" sz="1500" b="1" dirty="0">
                <a:solidFill>
                  <a:srgbClr val="7F7F7F"/>
                </a:solidFill>
              </a:rPr>
              <a:t>5%</a:t>
            </a:r>
            <a:r>
              <a:rPr lang="en-US" sz="1500" dirty="0">
                <a:solidFill>
                  <a:srgbClr val="000000"/>
                </a:solidFill>
              </a:rPr>
              <a:t> 提高至 </a:t>
            </a:r>
            <a:r>
              <a:rPr lang="en-US" sz="1500" b="1" dirty="0">
                <a:solidFill>
                  <a:srgbClr val="C00000"/>
                </a:solidFill>
              </a:rPr>
              <a:t>15%（方案1）</a:t>
            </a:r>
            <a:r>
              <a:rPr lang="en-US" sz="1500" dirty="0">
                <a:solidFill>
                  <a:srgbClr val="000000"/>
                </a:solidFill>
              </a:rPr>
              <a:t>／</a:t>
            </a:r>
            <a:r>
              <a:rPr lang="en-US" sz="1500" b="1" dirty="0">
                <a:solidFill>
                  <a:srgbClr val="960A14"/>
                </a:solidFill>
              </a:rPr>
              <a:t>9%（方案2）</a:t>
            </a:r>
            <a:r>
              <a:rPr lang="en-US" sz="1500" dirty="0">
                <a:solidFill>
                  <a:srgbClr val="000000"/>
                </a:solidFill>
              </a:rPr>
              <a:t>，成長目標佔比相對由 95% 降至 85%／91%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6" name="bar growth 115年（現行）"/>
          <p:cNvSpPr txBox="1"/>
          <p:nvPr/>
        </p:nvSpPr>
        <p:spPr>
          <a:xfrm>
            <a:off x="2103120" y="1783080"/>
            <a:ext cx="9034272" cy="347472"/>
          </a:xfrm>
          <a:prstGeom prst="rect">
            <a:avLst/>
          </a:prstGeom>
          <a:solidFill>
            <a:srgbClr val="C5C5C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成長目標 95%</a:t>
            </a:r>
            <a:endParaRPr lang="en-US" sz="1200" dirty="0"/>
          </a:p>
        </p:txBody>
      </p:sp>
      <p:sp>
        <p:nvSpPr>
          <p:cNvPr id="7" name="bar composite 115年（現行）"/>
          <p:cNvSpPr txBox="1"/>
          <p:nvPr/>
        </p:nvSpPr>
        <p:spPr>
          <a:xfrm>
            <a:off x="11137392" y="1783080"/>
            <a:ext cx="475488" cy="347472"/>
          </a:xfrm>
          <a:prstGeom prst="rect">
            <a:avLst/>
          </a:prstGeom>
          <a:solidFill>
            <a:srgbClr val="7F7F7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綜合 5%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9" name="bar growth 116年 方案1"/>
          <p:cNvSpPr txBox="1"/>
          <p:nvPr/>
        </p:nvSpPr>
        <p:spPr>
          <a:xfrm>
            <a:off x="2103120" y="2240280"/>
            <a:ext cx="8083296" cy="347472"/>
          </a:xfrm>
          <a:prstGeom prst="rect">
            <a:avLst/>
          </a:prstGeom>
          <a:solidFill>
            <a:srgbClr val="C5C5C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成長目標 85%</a:t>
            </a:r>
            <a:endParaRPr lang="en-US" sz="1200" dirty="0"/>
          </a:p>
        </p:txBody>
      </p:sp>
      <p:sp>
        <p:nvSpPr>
          <p:cNvPr id="10" name="bar composite 116年 方案1"/>
          <p:cNvSpPr txBox="1"/>
          <p:nvPr/>
        </p:nvSpPr>
        <p:spPr>
          <a:xfrm>
            <a:off x="10186416" y="2240280"/>
            <a:ext cx="1426464" cy="347472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綜合 15%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12" name="bar growth 116年 方案2"/>
          <p:cNvSpPr txBox="1"/>
          <p:nvPr/>
        </p:nvSpPr>
        <p:spPr>
          <a:xfrm>
            <a:off x="2103120" y="2697480"/>
            <a:ext cx="8653882" cy="347472"/>
          </a:xfrm>
          <a:prstGeom prst="rect">
            <a:avLst/>
          </a:prstGeom>
          <a:solidFill>
            <a:srgbClr val="C5C5C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成長目標 91%</a:t>
            </a:r>
            <a:endParaRPr lang="en-US" sz="1200" dirty="0"/>
          </a:p>
        </p:txBody>
      </p:sp>
      <p:sp>
        <p:nvSpPr>
          <p:cNvPr id="13" name="bar composite 116年 方案2"/>
          <p:cNvSpPr txBox="1"/>
          <p:nvPr/>
        </p:nvSpPr>
        <p:spPr>
          <a:xfrm>
            <a:off x="10757002" y="2697480"/>
            <a:ext cx="855878" cy="347472"/>
          </a:xfrm>
          <a:prstGeom prst="rect">
            <a:avLst/>
          </a:prstGeom>
          <a:solidFill>
            <a:srgbClr val="960A14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綜合 9%</a:t>
            </a:r>
            <a:endParaRPr lang="en-US" sz="1100" dirty="0"/>
          </a:p>
        </p:txBody>
      </p:sp>
      <p:sp>
        <p:nvSpPr>
          <p:cNvPr id="14" name="chip 綜合指標內部權重（方案1、方案2相同）"/>
          <p:cNvSpPr txBox="1"/>
          <p:nvPr/>
        </p:nvSpPr>
        <p:spPr>
          <a:xfrm>
            <a:off x="457200" y="329184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綜合指標內部權重（方案1、方案2相同）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51206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116年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變動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平均手續費收入指標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A9B6"/>
                          </a:solidFill>
                        </a:rPr>
                        <a:t>▼ -10%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F7F7F"/>
                          </a:solidFill>
                        </a:rPr>
                        <a:t>持平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投資類AUM指標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▲ +5%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人數指標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▲ +3%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組別指標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▲ +2%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Chart 0"/>
          <p:cNvGraphicFramePr/>
          <p:nvPr/>
        </p:nvGraphicFramePr>
        <p:xfrm>
          <a:off x="5852160" y="3246120"/>
          <a:ext cx="5897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59618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</a:rPr>
              <a:t>※ 係數同步調整：平均手收 0.02968→0.06582、存款 0.00015→0.00054、投資AUM 0.00030→0.00124、人數 25,259→109,768元／人、組別分配數 18～4萬→111～20萬元。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營業單位目標調整原則（三版本相同）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配合財務會計部調整年度盈餘目標時程，營業單位目標依下列 </a:t>
            </a:r>
            <a:r>
              <a:rPr lang="en-US" sz="1400" b="1" dirty="0">
                <a:solidFill>
                  <a:srgbClr val="C00000"/>
                </a:solidFill>
              </a:rPr>
              <a:t>6 項原則</a:t>
            </a:r>
            <a:r>
              <a:rPr lang="en-US" sz="1400" dirty="0">
                <a:solidFill>
                  <a:srgbClr val="000000"/>
                </a:solidFill>
              </a:rPr>
              <a:t> 調整（116年僅將比較基期由114年改為115年1-10月）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6916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num 1"/>
          <p:cNvSpPr txBox="1"/>
          <p:nvPr/>
        </p:nvSpPr>
        <p:spPr>
          <a:xfrm>
            <a:off x="594360" y="182880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國內自然人存款大幅流失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單一客戶存款餘額較1-10月月平均減少達5,000萬元以上，且營業單位合計減少達3億元以上 → 依存款指標方式調降目標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4297680" y="16916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num 2"/>
          <p:cNvSpPr txBox="1"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理財客戶投資餘額大幅減少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3317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（不含貨幣型基金）單一客戶減少達1,000萬元以上，且營業單位合計減少達5,000萬元以上 → 依投資餘額指標方式調降目標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8138160" y="16916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num 3"/>
          <p:cNvSpPr txBox="1"/>
          <p:nvPr/>
        </p:nvSpPr>
        <p:spPr>
          <a:xfrm>
            <a:off x="8275320" y="182880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跨分行移轉客戶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3317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依目標訂定方式計算客戶目標影響數，以影響數之 8成 減少移出行目標、同時增加移入行目標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457200" y="393192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num 4"/>
          <p:cNvSpPr txBox="1"/>
          <p:nvPr/>
        </p:nvSpPr>
        <p:spPr>
          <a:xfrm>
            <a:off x="594360" y="406908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行舍搬遷／業務合併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572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致理財及存款客戶流失，或其他足以影響分行財富管理業務目標達成之因素</a:t>
            </a:r>
            <a:endParaRPr lang="en-US" sz="1400" dirty="0"/>
          </a:p>
        </p:txBody>
      </p:sp>
      <p:sp>
        <p:nvSpPr>
          <p:cNvPr id="20" name="card 5"/>
          <p:cNvSpPr/>
          <p:nvPr/>
        </p:nvSpPr>
        <p:spPr>
          <a:xfrm>
            <a:off x="4297680" y="393192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num 5"/>
          <p:cNvSpPr txBox="1"/>
          <p:nvPr/>
        </p:nvSpPr>
        <p:spPr>
          <a:xfrm>
            <a:off x="4434840" y="406908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承作聯行客戶未移轉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4572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承作專屬理專所屬行為聯行之客戶而未移轉，致影響聯行推展者 → 按影響數 100% 增加承作行目標、同時減少客戶所屬行目標</a:t>
            </a:r>
            <a:endParaRPr lang="en-US" sz="1400" dirty="0"/>
          </a:p>
        </p:txBody>
      </p:sp>
      <p:sp>
        <p:nvSpPr>
          <p:cNvPr id="24" name="card 6"/>
          <p:cNvSpPr/>
          <p:nvPr/>
        </p:nvSpPr>
        <p:spPr>
          <a:xfrm>
            <a:off x="8138160" y="393192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num 6"/>
          <p:cNvSpPr txBox="1"/>
          <p:nvPr/>
        </p:nvSpPr>
        <p:spPr>
          <a:xfrm>
            <a:off x="8275320" y="406908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理財人員請長假／異動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572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門檻：近6個月自銷業績占分行業績達5成以上；以近6個月自銷月均（扣除遞補理專差額）× 6個月影響數之 3成 調整目標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附錄：116年方案文件待確認事項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整理比較時發現 116 年兩方案文件有下列 </a:t>
            </a:r>
            <a:r>
              <a:rPr lang="en-US" sz="1500" b="1" dirty="0">
                <a:solidFill>
                  <a:srgbClr val="C00000"/>
                </a:solidFill>
              </a:rPr>
              <a:t>文字／數字不一致</a:t>
            </a:r>
            <a:r>
              <a:rPr lang="en-US" sz="1500" dirty="0">
                <a:solidFill>
                  <a:srgbClr val="000000"/>
                </a:solidFill>
              </a:rPr>
              <a:t> 之處，建議定稿前確認：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位置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文件內容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疑點／建議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方案1 第2.(2)點小標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「營業單位綜合指標之目標（佔7%）」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前文與方案架構為 15%；7% 疑為舊版殘留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方案2 成長目標表 第1列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「120%以上：維持115年目標」，公式欄為「分行目標×120%」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文字（維持）與公式（×120%）矛盾，請確認何者正確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 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計算期間仍為「114年1至10月」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其餘指標已改為115年1-10月，存款指標疑漏改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兩方案【註2】【註4】【註6】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係數仍寫 0.00015／0.00030／25,259，分母為114年資料、分配數29.5億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與正文新係數（0.00054／0.00124／109,768）不符，註釋未同步更新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 第2點前言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「115年度…目標為『116年成長目標』…」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年度應為 116年度（文字誤植）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 平均手收指標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「前2年（113年及114年）」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116年目標理應採 114年及115年（1-10月年化），請確認基期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115年財富管理手續費收入達成說明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115年1-9月實績 98.42億（目標進度 92.91億，達成 105.9%）；年化後 124.86億 對全年目標 117.85億。以下分析皆以年化數字為準</a:t>
            </a:r>
            <a:endParaRPr lang="en-US" sz="1300" dirty="0"/>
          </a:p>
        </p:txBody>
      </p:sp>
      <p:sp>
        <p:nvSpPr>
          <p:cNvPr id="4" name="kpi 115年目標"/>
          <p:cNvSpPr/>
          <p:nvPr/>
        </p:nvSpPr>
        <p:spPr>
          <a:xfrm>
            <a:off x="457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115年目標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117.85億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較114年目標 +19.3%</a:t>
            </a:r>
            <a:endParaRPr lang="en-US" sz="1000" dirty="0"/>
          </a:p>
        </p:txBody>
      </p:sp>
      <p:sp>
        <p:nvSpPr>
          <p:cNvPr id="8" name="kpi 115年年化實績"/>
          <p:cNvSpPr/>
          <p:nvPr/>
        </p:nvSpPr>
        <p:spPr>
          <a:xfrm>
            <a:off x="2743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115年年化實績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60A14"/>
                </a:solidFill>
              </a:rPr>
              <a:t>124.86億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較114年實績 +29.7%</a:t>
            </a:r>
            <a:endParaRPr lang="en-US" sz="1000" dirty="0"/>
          </a:p>
        </p:txBody>
      </p:sp>
      <p:sp>
        <p:nvSpPr>
          <p:cNvPr id="12" name="kpi 115年達成率"/>
          <p:cNvSpPr/>
          <p:nvPr/>
        </p:nvSpPr>
        <p:spPr>
          <a:xfrm>
            <a:off x="5029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115年達成率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105.9%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114年為 97.5%</a:t>
            </a:r>
            <a:endParaRPr lang="en-US" sz="1000" dirty="0"/>
          </a:p>
        </p:txBody>
      </p:sp>
      <p:sp>
        <p:nvSpPr>
          <p:cNvPr id="16" name="kpi 達標分行"/>
          <p:cNvSpPr/>
          <p:nvPr/>
        </p:nvSpPr>
        <p:spPr>
          <a:xfrm>
            <a:off x="7315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達標分行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99 / 183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占54%（114年 70家、38%）</a:t>
            </a:r>
            <a:endParaRPr lang="en-US" sz="1000" dirty="0"/>
          </a:p>
        </p:txBody>
      </p:sp>
      <p:sp>
        <p:nvSpPr>
          <p:cNvPr id="20" name="kpi 淨超額"/>
          <p:cNvSpPr/>
          <p:nvPr/>
        </p:nvSpPr>
        <p:spPr>
          <a:xfrm>
            <a:off x="9601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淨超額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+7.00億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超額15.23億 − 缺口8.23億</a:t>
            </a:r>
            <a:endParaRPr lang="en-US" sz="1000" dirty="0"/>
          </a:p>
        </p:txBody>
      </p:sp>
      <p:sp>
        <p:nvSpPr>
          <p:cNvPr id="24" name="chip 各通路區達成情形"/>
          <p:cNvSpPr txBox="1"/>
          <p:nvPr/>
        </p:nvSpPr>
        <p:spPr>
          <a:xfrm>
            <a:off x="457200" y="28803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各通路區達成情形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6675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868680"/>
                <a:gridCol w="868680"/>
                <a:gridCol w="914400"/>
                <a:gridCol w="868680"/>
                <a:gridCol w="86868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通路區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115目標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115實績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115達成率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超額/缺口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達標家數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114達成率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北二區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24.25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27.62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113.9%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+3.36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23 / 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97.5%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北一區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29.63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31.71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107.0%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+2.08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23 / 46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88.9%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北三區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19.19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19.73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102.8%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+0.54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18 / 33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96.4%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中區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21.97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22.57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102.7%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+0.60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15 / 31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105.3%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南區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22.82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23.24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101.8%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+0.42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20 / 37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102.4%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全行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117.85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124.86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105.9%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+7.00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99 / 183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</a:rPr>
                        <a:t>97.5%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56235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</a:rPr>
              <a:t>單位：億元；達成率＝年化實績÷目標</a:t>
            </a:r>
            <a:endParaRPr lang="en-US" sz="9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7315200" y="2880360"/>
          <a:ext cx="4434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insight box"/>
          <p:cNvSpPr/>
          <p:nvPr/>
        </p:nvSpPr>
        <p:spPr>
          <a:xfrm>
            <a:off x="7315200" y="5349240"/>
            <a:ext cx="4434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406640" y="5376672"/>
            <a:ext cx="42519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重點：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全行105.9%由北二區、北一區貢獻（超額5.44億，占淨超額78%）；中區、南區114年達標、115年降至約102%；達標分行僅54%，近半數分行未達目標。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114年未達標分行的「目標懲罰循環」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以 114 年達成率分群，追蹤 183 家分行在 115 年規則下的目標與實績（資料：COMPARE114／財管手收比較表）</a:t>
            </a:r>
            <a:endParaRPr lang="en-US" sz="1300" dirty="0"/>
          </a:p>
        </p:txBody>
      </p:sp>
      <p:sp>
        <p:nvSpPr>
          <p:cNvPr id="4" name="step 1"/>
          <p:cNvSpPr/>
          <p:nvPr/>
        </p:nvSpPr>
        <p:spPr>
          <a:xfrm>
            <a:off x="457200" y="1508760"/>
            <a:ext cx="2697480" cy="457200"/>
          </a:xfrm>
          <a:prstGeom prst="homePlat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 114年未達標</a:t>
            </a:r>
            <a:endParaRPr lang="en-US" sz="1400" dirty="0"/>
          </a:p>
        </p:txBody>
      </p:sp>
      <p:sp>
        <p:nvSpPr>
          <p:cNvPr id="6" name="card 1"/>
          <p:cNvSpPr/>
          <p:nvPr/>
        </p:nvSpPr>
        <p:spPr>
          <a:xfrm>
            <a:off x="457200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F7F7F"/>
                </a:solidFill>
              </a:rPr>
              <a:t>113家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達成率未達100%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占全行 62%</a:t>
            </a:r>
            <a:endParaRPr lang="en-US" sz="1150" dirty="0"/>
          </a:p>
        </p:txBody>
      </p:sp>
      <p:sp>
        <p:nvSpPr>
          <p:cNvPr id="9" name="step 2"/>
          <p:cNvSpPr/>
          <p:nvPr/>
        </p:nvSpPr>
        <p:spPr>
          <a:xfrm>
            <a:off x="3310128" y="1508760"/>
            <a:ext cx="2697480" cy="457200"/>
          </a:xfrm>
          <a:prstGeom prst="chevron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 115年目標被拉高</a:t>
            </a:r>
            <a:endParaRPr lang="en-US" sz="1400" dirty="0"/>
          </a:p>
        </p:txBody>
      </p:sp>
      <p:sp>
        <p:nvSpPr>
          <p:cNvPr id="11" name="card 2"/>
          <p:cNvSpPr/>
          <p:nvPr/>
        </p:nvSpPr>
        <p:spPr>
          <a:xfrm>
            <a:off x="3310128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+41%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115目標＝114分行目標×105～115%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較114年實績平均拉高41%</a:t>
            </a:r>
            <a:endParaRPr lang="en-US" sz="1150" dirty="0"/>
          </a:p>
        </p:txBody>
      </p:sp>
      <p:sp>
        <p:nvSpPr>
          <p:cNvPr id="14" name="step 3"/>
          <p:cNvSpPr/>
          <p:nvPr/>
        </p:nvSpPr>
        <p:spPr>
          <a:xfrm>
            <a:off x="6163056" y="1508760"/>
            <a:ext cx="2697480" cy="457200"/>
          </a:xfrm>
          <a:prstGeom prst="chevron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115年持續未達標</a:t>
            </a:r>
            <a:endParaRPr lang="en-US" sz="1400" dirty="0"/>
          </a:p>
        </p:txBody>
      </p:sp>
      <p:sp>
        <p:nvSpPr>
          <p:cNvPr id="16" name="card 3"/>
          <p:cNvSpPr/>
          <p:nvPr/>
        </p:nvSpPr>
        <p:spPr>
          <a:xfrm>
            <a:off x="6163056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66家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 98.7%；66家（58%）仍未達標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19家未達75%，全數來自此群</a:t>
            </a:r>
            <a:endParaRPr lang="en-US" sz="1150" dirty="0"/>
          </a:p>
        </p:txBody>
      </p:sp>
      <p:sp>
        <p:nvSpPr>
          <p:cNvPr id="19" name="step 4"/>
          <p:cNvSpPr/>
          <p:nvPr/>
        </p:nvSpPr>
        <p:spPr>
          <a:xfrm>
            <a:off x="9015984" y="1508760"/>
            <a:ext cx="2697480" cy="457200"/>
          </a:xfrm>
          <a:prstGeom prst="chevron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4584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 缺口由他人填補</a:t>
            </a:r>
            <a:endParaRPr lang="en-US" sz="1400" dirty="0"/>
          </a:p>
        </p:txBody>
      </p:sp>
      <p:sp>
        <p:nvSpPr>
          <p:cNvPr id="21" name="card 4"/>
          <p:cNvSpPr/>
          <p:nvPr/>
        </p:nvSpPr>
        <p:spPr>
          <a:xfrm>
            <a:off x="9015984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7.1億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此群未達成缺口 7.1億（占全行缺口86%）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由超額分行 15.2億 補足</a:t>
            </a:r>
            <a:endParaRPr lang="en-US" sz="1150" dirty="0"/>
          </a:p>
        </p:txBody>
      </p:sp>
      <p:sp>
        <p:nvSpPr>
          <p:cNvPr id="24" name="loop arrow"/>
          <p:cNvSpPr/>
          <p:nvPr/>
        </p:nvSpPr>
        <p:spPr>
          <a:xfrm rot="5400000">
            <a:off x="10881360" y="2011680"/>
            <a:ext cx="822960" cy="457200"/>
          </a:xfrm>
          <a:prstGeom prst="uturnArrow">
            <a:avLst/>
          </a:prstGeom>
          <a:solidFill>
            <a:srgbClr val="C5C5C5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7F7F7F"/>
                </a:solidFill>
              </a:rPr>
              <a:t>116年若沿用相同規則，目標再×115%，循環持續</a:t>
            </a:r>
            <a:endParaRPr lang="en-US" sz="1150" dirty="0"/>
          </a:p>
        </p:txBody>
      </p:sp>
      <p:sp>
        <p:nvSpPr>
          <p:cNvPr id="26" name="chip 兩群對照"/>
          <p:cNvSpPr txBox="1"/>
          <p:nvPr/>
        </p:nvSpPr>
        <p:spPr>
          <a:xfrm>
            <a:off x="457200" y="42062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兩群對照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03904"/>
                <a:gridCol w="381304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115年表現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114年達標群（70家）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114年未達標群（113家）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115年目標 較114年實績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+2.2%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+41.1%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115年達成率（群合計）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116.8%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98.7%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115年仍未達標家數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18家（26%）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66家（58%）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115年未達75%家數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0家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19家（17%）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115年整體達成率分布：183家分行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依115年年化達成率（四捨五入至小數2位，與原檔分群一致）分組計算家數；全行達成 105.9%，但分行間差距極大（52%～215%）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le 達標分行"/>
          <p:cNvSpPr/>
          <p:nvPr/>
        </p:nvSpPr>
        <p:spPr>
          <a:xfrm>
            <a:off x="457200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達標分行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99家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占54%</a:t>
            </a:r>
            <a:endParaRPr lang="en-US" sz="1050" dirty="0"/>
          </a:p>
        </p:txBody>
      </p:sp>
      <p:sp>
        <p:nvSpPr>
          <p:cNvPr id="9" name="tile 未達標分行"/>
          <p:cNvSpPr/>
          <p:nvPr/>
        </p:nvSpPr>
        <p:spPr>
          <a:xfrm>
            <a:off x="2313432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04872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未達標分行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404872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84家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404872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占46%</a:t>
            </a:r>
            <a:endParaRPr lang="en-US" sz="1050" dirty="0"/>
          </a:p>
        </p:txBody>
      </p:sp>
      <p:sp>
        <p:nvSpPr>
          <p:cNvPr id="13" name="tile 達成率中位數"/>
          <p:cNvSpPr/>
          <p:nvPr/>
        </p:nvSpPr>
        <p:spPr>
          <a:xfrm>
            <a:off x="4169664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1104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達成率中位數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261104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101%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261104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簡單平均 105%</a:t>
            </a:r>
            <a:endParaRPr lang="en-US" sz="1050" dirty="0"/>
          </a:p>
        </p:txBody>
      </p:sp>
      <p:sp>
        <p:nvSpPr>
          <p:cNvPr id="17" name="tile 75%～100% 集中區"/>
          <p:cNvSpPr/>
          <p:nvPr/>
        </p:nvSpPr>
        <p:spPr>
          <a:xfrm>
            <a:off x="6025896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17336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75%～100% 集中區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17336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60A14"/>
                </a:solidFill>
              </a:rPr>
              <a:t>65家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117336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占36%，最大族群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17320"/>
          <a:ext cx="38862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11480"/>
                <a:gridCol w="502920"/>
                <a:gridCol w="548640"/>
                <a:gridCol w="548640"/>
                <a:gridCol w="502920"/>
                <a:gridCol w="502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115達成率級距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實績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達成率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超額/缺口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180%以上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1.6%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200%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+1.58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150～180%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2.2%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3.80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158%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+2.20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120～150%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21.9%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26.52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34.38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130%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+7.87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100～120%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28.4%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35.89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110%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+3.58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75～100%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35.5%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39.08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34.32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88%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−4.76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10.4%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10.98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68%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−3.47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117.85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124.86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106%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+7.00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863840" y="3858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</a:rPr>
              <a:t>單位：億元；級距同116年方案1之115年年化達成率分類</a:t>
            </a:r>
            <a:endParaRPr lang="en-US" sz="850" dirty="0"/>
          </a:p>
        </p:txBody>
      </p:sp>
      <p:sp>
        <p:nvSpPr>
          <p:cNvPr id="23" name="insight"/>
          <p:cNvSpPr/>
          <p:nvPr/>
        </p:nvSpPr>
        <p:spPr>
          <a:xfrm>
            <a:off x="7863840" y="4069080"/>
            <a:ext cx="3886200" cy="20574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55280" y="4114800"/>
            <a:ext cx="37033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解讀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分布呈右偏：半數分行達成率在101%以下，但120%以上有47家（26%）大幅超額，拉高全行至105.9%。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75%～100%是最大族群（65家、36%），這群「差一點達標」的分行缺口4.76億，是116年規則最該關照的對象。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未達75%的19家缺口3.47億，達成率僅68%。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 → 115年 分行達成率流向矩陣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列＝114年達成率級距（決定115年規則），欄＝115年年化達成率級距；格內為分行家數，顏色越深家數越多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548640"/>
                <a:gridCol w="777240"/>
                <a:gridCol w="777240"/>
                <a:gridCol w="777240"/>
                <a:gridCol w="777240"/>
                <a:gridCol w="77724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114年達成率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115年規則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180%以上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150～180%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120～150%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100～120%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75～100%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未達75%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200%以上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實績×70%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150～200%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實績×80%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130～150%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實績×90%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120～130%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實績×101%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110～120%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實績×103%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100～110%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2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90～100%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75～90%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D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未達75%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淺紅列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＝114年未達標、115年以「分行目標」加成之分行（113家）；</a:t>
            </a:r>
            <a:pPr indent="0" marL="0">
              <a:buNone/>
            </a:pPr>
            <a:r>
              <a:rPr lang="en-US" sz="1100" b="1" dirty="0">
                <a:solidFill>
                  <a:srgbClr val="960A14"/>
                </a:solidFill>
              </a:rPr>
              <a:t>深紅欄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＝115年未達75%之19家，全部來自淺紅列。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863840" y="1463040"/>
          <a:ext cx="3886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5623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114年達成率越低、目標被加成越多，115年落入未達75%的比例越高（8%→17%→29%）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目標拉高幅度 vs 115年達成率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依114年達成率級距彙總（群合計）：上圖＝115年目標較114年實績之成長率，下圖＝115年年化達成率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379476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nsight panel"/>
          <p:cNvSpPr/>
          <p:nvPr/>
        </p:nvSpPr>
        <p:spPr>
          <a:xfrm>
            <a:off x="8503920" y="1417320"/>
            <a:ext cx="3246120" cy="4663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chip 解讀"/>
          <p:cNvSpPr txBox="1"/>
          <p:nvPr/>
        </p:nvSpPr>
        <p:spPr>
          <a:xfrm>
            <a:off x="8641080" y="155448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解讀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011680"/>
            <a:ext cx="301752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績優分行（130%以上）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115年目標反而低於114年實績（−7%～−25%），115年達成率 124%～189%，持續超額。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未達標分行（未達100%）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目標以「分行目標」加成，較114年實績拉高 22%／42%／77%，115年達成率僅 106%／96%／95%。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結論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規則對落後分行加碼最重、對績優分行最寬鬆，形成「越落後、目標越高、越難達成」的反向循環。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115年缺口由誰填補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115年年化：目標 117.85億 → 實績 124.86億（達成 105.9%），整體達標掩蓋了 84 家未達成分行 8.2億 的缺口</a:t>
            </a:r>
            <a:endParaRPr lang="en-US" sz="1300" dirty="0"/>
          </a:p>
        </p:txBody>
      </p:sp>
      <p:sp>
        <p:nvSpPr>
          <p:cNvPr id="4" name="axis"/>
          <p:cNvSpPr/>
          <p:nvPr/>
        </p:nvSpPr>
        <p:spPr>
          <a:xfrm>
            <a:off x="822960" y="4892040"/>
            <a:ext cx="5989320" cy="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5" name="bar 115年目標"/>
          <p:cNvSpPr/>
          <p:nvPr/>
        </p:nvSpPr>
        <p:spPr>
          <a:xfrm>
            <a:off x="822960" y="3353105"/>
            <a:ext cx="1188720" cy="1538935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3306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117.85億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115年目標</a:t>
            </a:r>
            <a:endParaRPr lang="en-US" sz="1000" dirty="0"/>
          </a:p>
        </p:txBody>
      </p:sp>
      <p:sp>
        <p:nvSpPr>
          <p:cNvPr id="8" name="bar 115年超額 99家 達標群52＋未達標群47"/>
          <p:cNvSpPr/>
          <p:nvPr/>
        </p:nvSpPr>
        <p:spPr>
          <a:xfrm>
            <a:off x="2423160" y="2040053"/>
            <a:ext cx="1188720" cy="1313052"/>
          </a:xfrm>
          <a:prstGeom prst="rect">
            <a:avLst/>
          </a:prstGeom>
          <a:solidFill>
            <a:srgbClr val="2EA9B6"/>
          </a:solidFill>
          <a:ln w="12700">
            <a:solidFill>
              <a:srgbClr val="2EA9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172001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+15.23億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115年超額 99家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達標群52＋未達標群47</a:t>
            </a:r>
            <a:endParaRPr lang="en-US" sz="1000" dirty="0"/>
          </a:p>
        </p:txBody>
      </p:sp>
      <p:sp>
        <p:nvSpPr>
          <p:cNvPr id="11" name="connector 1"/>
          <p:cNvSpPr/>
          <p:nvPr/>
        </p:nvSpPr>
        <p:spPr>
          <a:xfrm>
            <a:off x="2011680" y="3353105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2" name="bar 115年未達成 84家 達標群18＋未達標群66"/>
          <p:cNvSpPr/>
          <p:nvPr/>
        </p:nvSpPr>
        <p:spPr>
          <a:xfrm>
            <a:off x="4023360" y="2040053"/>
            <a:ext cx="1188720" cy="70868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72001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−8.23億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115年未達成 84家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達標群18＋未達標群66</a:t>
            </a:r>
            <a:endParaRPr lang="en-US" sz="1000" dirty="0"/>
          </a:p>
        </p:txBody>
      </p:sp>
      <p:sp>
        <p:nvSpPr>
          <p:cNvPr id="15" name="connector 2"/>
          <p:cNvSpPr/>
          <p:nvPr/>
        </p:nvSpPr>
        <p:spPr>
          <a:xfrm>
            <a:off x="3611880" y="2040053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6" name="bar 115年年化實績"/>
          <p:cNvSpPr/>
          <p:nvPr/>
        </p:nvSpPr>
        <p:spPr>
          <a:xfrm>
            <a:off x="5623560" y="2748739"/>
            <a:ext cx="1188720" cy="2143301"/>
          </a:xfrm>
          <a:prstGeom prst="rect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2428699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124.86億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115年年化實績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F7F7F"/>
                </a:solidFill>
              </a:rPr>
              <a:t>家數檢核：183家 ＝ 115年超額 99家 ＋ 115年未達成 84家；單位：億元，縱軸自100億起。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114年未達標群113家中，66家再次未達成、缺口 7.1億（占全行缺口86%）；其餘47家超額 6.2億。這些缺口由 99 家超額分行的 15.2億 填補，全行仍達成 105.9%。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目標加成並未換來實績，只是把缺口轉嫁到其他分行。</a:t>
            </a:r>
            <a:endParaRPr lang="en-US" sz="1050" dirty="0"/>
          </a:p>
        </p:txBody>
      </p:sp>
      <p:sp>
        <p:nvSpPr>
          <p:cNvPr id="20" name="breakdown panel"/>
          <p:cNvSpPr/>
          <p:nvPr/>
        </p:nvSpPr>
        <p:spPr>
          <a:xfrm>
            <a:off x="6949440" y="1417320"/>
            <a:ext cx="4800600" cy="48006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1" name="chip surplus"/>
          <p:cNvSpPr txBox="1"/>
          <p:nvPr/>
        </p:nvSpPr>
        <p:spPr>
          <a:xfrm>
            <a:off x="7086600" y="149047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2EA9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超額 15.23億 來自誰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828800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超額家數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超額金額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達標群（≥100%）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52家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+9.08億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60%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績優 130%以上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+3.76億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100～130%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+5.32億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未達標群（&lt;100%）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47家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+6.16億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90～100%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20家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+2.80億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75～90%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21家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+2.00億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未達75%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+1.36億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9%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99家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+15.23億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chip gap"/>
          <p:cNvSpPr txBox="1"/>
          <p:nvPr/>
        </p:nvSpPr>
        <p:spPr>
          <a:xfrm>
            <a:off x="7086600" y="4041648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缺口 8.23億 來自誰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4370832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未達成家數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未達成缺口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達標群（≥100%）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18家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−1.13億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未達標群（&lt;100%）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66家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−7.10億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86%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90～100%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−1.49億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75～90%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32家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−3.43億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42%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未達75%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−2.18億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26%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84家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−8.23億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打破循環：116年方案1對未達75%分行的效果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115年未達75%之19家分行（115年目標 10.98億、年化實績 7.51億、達成率 68%）在兩種116年規則下的目標比較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沿用115年規則"/>
          <p:cNvSpPr/>
          <p:nvPr/>
        </p:nvSpPr>
        <p:spPr>
          <a:xfrm>
            <a:off x="7315200" y="146304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554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沿用115年規則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874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12.62億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+68%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目標再疊加 15%，與實績差距擴大至 5.1億，第三年落入同一循環</a:t>
            </a:r>
            <a:endParaRPr lang="en-US" sz="1150" dirty="0"/>
          </a:p>
        </p:txBody>
      </p:sp>
      <p:sp>
        <p:nvSpPr>
          <p:cNvPr id="9" name="card 116年方案1"/>
          <p:cNvSpPr/>
          <p:nvPr/>
        </p:nvSpPr>
        <p:spPr>
          <a:xfrm>
            <a:off x="7315200" y="338328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3474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9B6"/>
                </a:solidFill>
              </a:rPr>
              <a:t>116年方案1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7947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7.74億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+3%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4343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回到實績基礎，目標可達；差額 4.9億 改由 綜合指標（15%）與績優分行承擔</a:t>
            </a:r>
            <a:endParaRPr lang="en-US" sz="1150" dirty="0"/>
          </a:p>
        </p:txBody>
      </p:sp>
      <p:sp>
        <p:nvSpPr>
          <p:cNvPr id="13" name="conclusion box"/>
          <p:cNvSpPr/>
          <p:nvPr/>
        </p:nvSpPr>
        <p:spPr>
          <a:xfrm>
            <a:off x="7315200" y="5349240"/>
            <a:ext cx="4434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</a:rPr>
              <a:t>建議：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落後分行以實績為基礎設定地板、績優分行以折扣設定天花板，讓目標回到「可達成且有成長」的區間。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CB Red">
  <a:themeElements>
    <a:clrScheme name="HNCB Red">
      <a:dk1>
        <a:srgbClr val="000000"/>
      </a:dk1>
      <a:lt1>
        <a:srgbClr val="FFFFFF"/>
      </a:lt1>
      <a:dk2>
        <a:srgbClr val="960A14"/>
      </a:dk2>
      <a:lt2>
        <a:srgbClr val="FDF1E9"/>
      </a:lt2>
      <a:accent1>
        <a:srgbClr val="C00000"/>
      </a:accent1>
      <a:accent2>
        <a:srgbClr val="7F7F7F"/>
      </a:accent2>
      <a:accent3>
        <a:srgbClr val="D96C6C"/>
      </a:accent3>
      <a:accent4>
        <a:srgbClr val="2EA9B6"/>
      </a:accent4>
      <a:accent5>
        <a:srgbClr val="C5C5C5"/>
      </a:accent5>
      <a:accent6>
        <a:srgbClr val="FFC000"/>
      </a:accent6>
      <a:hlink>
        <a:srgbClr val="C00000"/>
      </a:hlink>
      <a:folHlink>
        <a:srgbClr val="960A14"/>
      </a:folHlink>
    </a:clrScheme>
    <a:fontScheme name="HNCB Red">
      <a:majorFont>
        <a:latin typeface="微軟正黑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軟正黑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1671</Words>
  <Application>Microsoft Office PowerPoint</Application>
  <PresentationFormat>寬螢幕</PresentationFormat>
  <Paragraphs>333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微軟正黑體</vt:lpstr>
      <vt:lpstr>Arial</vt:lpstr>
      <vt:lpstr>HNCB Red</vt:lpstr>
      <vt:lpstr>115年度 財富管理手續費收入目標訂定原則</vt:lpstr>
      <vt:lpstr>115年度 營業單位綜合指標訂定規則（佔5%）</vt:lpstr>
      <vt:lpstr>116年度 目標訂定原則：方案1 vs 方案2 總覽</vt:lpstr>
      <vt:lpstr>成長目標規則比較（115年 vs 116年兩方案）</vt:lpstr>
      <vt:lpstr>綜合指標訂定規則比較（115年 vs 116年兩方案）</vt:lpstr>
      <vt:lpstr>指標權重調整整理：115年 → 116年</vt:lpstr>
      <vt:lpstr>營業單位目標調整原則（三版本相同）</vt:lpstr>
      <vt:lpstr>附錄：116年方案文件待確認事項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財富管理手續費收入目標訂定原則比較（115年 vs 116年方案1/方案2）</dc:title>
  <dc:subject>PptxGenJS Presentation</dc:subject>
  <dc:creator>PptxGenJS</dc:creator>
  <cp:lastModifiedBy>羅國峯</cp:lastModifiedBy>
  <cp:revision>1</cp:revision>
  <dcterms:created xsi:type="dcterms:W3CDTF">2026-10-20T01:38:09Z</dcterms:created>
  <dcterms:modified xsi:type="dcterms:W3CDTF">2026-10-20T01:56:24Z</dcterms:modified>
</cp:coreProperties>
</file>