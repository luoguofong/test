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01" r:id="rId101"/>
    <p:sldId id="302" r:id="rId102"/>
    <p:sldId id="303" r:id="rId103"/>
    <p:sldId id="304" r:id="rId104"/>
    <p:sldId id="305" r:id="rId10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5年度 目標訂定原則（現行）" id="{002A102D-150F-FB82-357B-860345E521EA}">
          <p14:sldIdLst>
            <p14:sldId id="256"/>
            <p14:sldId id="257"/>
          </p14:sldIdLst>
        </p14:section>
        <p14:section name="116年度 方案1 vs 方案2 比較" id="{493CF13A-0D13-414E-79CB-8CFCADEC4E83}">
          <p14:sldIdLst>
            <p14:sldId id="258"/>
            <p14:sldId id="259"/>
            <p14:sldId id="260"/>
          </p14:sldIdLst>
        </p14:section>
        <p14:section name="指標權重調整整理" id="{5F4C1F11-707C-32CF-648C-25CBE2FF82F9}">
          <p14:sldIdLst>
            <p14:sldId id="261"/>
          </p14:sldIdLst>
        </p14:section>
        <p14:section name="目標調整原則與待確認事項" id="{C84876A3-9F8B-30E0-DC6D-6B6626F486D3}">
          <p14:sldIdLst>
            <p14:sldId id="262"/>
            <p14:sldId id="263"/>
          </p14:sldIdLst>
        </p14:section>
        <p14:section name="114→115 分行表現分析" id="{E94D4815-4B75-4570-81AA-0A45B34EE70C}">
          <p14:sldIdLst>
            <p14:sldId id="301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01" Type="http://schemas.openxmlformats.org/officeDocument/2006/relationships/slide" Target="slides/slide9.xml"/><Relationship Id="rId102" Type="http://schemas.openxmlformats.org/officeDocument/2006/relationships/slide" Target="slides/slide10.xml"/><Relationship Id="rId103" Type="http://schemas.openxmlformats.org/officeDocument/2006/relationships/slide" Target="slides/slide11.xml"/><Relationship Id="rId104" Type="http://schemas.openxmlformats.org/officeDocument/2006/relationships/slide" Target="slides/slide12.xml"/><Relationship Id="rId105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綜合指標權重：115年 vs 116年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</c:v>
                </c:pt>
              </c:strCache>
            </c:strRef>
          </c:tx>
          <c:spPr>
            <a:solidFill>
              <a:srgbClr val="C5C5C5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66-4AF7-9553-B612310C8F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116年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66-4AF7-9553-B612310C8F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2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115年度現行規則：計算基礎118億元，成長目標95%＋綜合指標5%。績優分行以預估實績折減為90%/80%/70%。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115年綜合指標五項：平均手收30%、存款25%、投資AUM 20%、人數22%、組別3%。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116年兩方案總覽：方案1 140億、85/15；方案2 130億、91/9。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成長目標級距三版本並列比較。方案2「120%以上」文字為維持115年目標，但公式寫分行目標×120%，待確認。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綜合指標規則比較：方案1與方案2規則相同，僅佔比不同。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權重調整：平均手收 -10%、存款持平、投資AUM +5%、人數 +3%、組別 +2%。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六項目標調整原則，三份文件內容一致。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文件待確認事項清單。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財富管理手續費收入目標訂定原則</a:t>
            </a:r>
            <a:endParaRPr lang="en-US" sz="3000" dirty="0"/>
          </a:p>
        </p:txBody>
      </p:sp>
      <p:sp>
        <p:nvSpPr>
          <p:cNvPr id="3" name="chip 計算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計算基礎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115年度國內營業單位財富管理業務手續費收入目標以 </a:t>
            </a:r>
            <a:r>
              <a:rPr lang="en-US" sz="1800" b="1" dirty="0">
                <a:solidFill>
                  <a:srgbClr val="C00000"/>
                </a:solidFill>
              </a:rPr>
              <a:t>118億元</a:t>
            </a:r>
            <a:r>
              <a:rPr lang="en-US" sz="1600" dirty="0">
                <a:solidFill>
                  <a:srgbClr val="000000"/>
                </a:solidFill>
              </a:rPr>
              <a:t> 為計算基礎</a:t>
            </a:r>
            <a:endParaRPr lang="en-US" sz="1600" dirty="0"/>
          </a:p>
        </p:txBody>
      </p:sp>
      <p:sp>
        <p:nvSpPr>
          <p:cNvPr id="5" name="chip 訂定方式"/>
          <p:cNvSpPr txBox="1"/>
          <p:nvPr/>
        </p:nvSpPr>
        <p:spPr>
          <a:xfrm>
            <a:off x="457200" y="16916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訂定方式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64592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「115年成長目標」</a:t>
            </a:r>
            <a:r>
              <a:rPr lang="en-US" sz="1600" b="1" dirty="0">
                <a:solidFill>
                  <a:srgbClr val="C00000"/>
                </a:solidFill>
              </a:rPr>
              <a:t>佔95%</a:t>
            </a:r>
            <a:r>
              <a:rPr lang="en-US" sz="1600" dirty="0">
                <a:solidFill>
                  <a:srgbClr val="000000"/>
                </a:solidFill>
              </a:rPr>
              <a:t>　＋　「營業單位綜合指標之目標」</a:t>
            </a:r>
            <a:r>
              <a:rPr lang="en-US" sz="1600" b="1" dirty="0">
                <a:solidFill>
                  <a:srgbClr val="C00000"/>
                </a:solidFill>
              </a:rPr>
              <a:t>佔5%</a:t>
            </a:r>
            <a:endParaRPr lang="en-US" sz="1600" dirty="0"/>
          </a:p>
        </p:txBody>
      </p:sp>
      <p:sp>
        <p:nvSpPr>
          <p:cNvPr id="7" name="chip 成長目標（佔95%）"/>
          <p:cNvSpPr txBox="1"/>
          <p:nvPr/>
        </p:nvSpPr>
        <p:spPr>
          <a:xfrm>
            <a:off x="457200" y="228600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成長目標（佔95%）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6675120" cy="268833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114年年化達成率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115年成長目標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計算公式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110%以上，未達120%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100%以上，未達110%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90%以上，未達100%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75%以上，未達90%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panel"/>
          <p:cNvSpPr/>
          <p:nvPr/>
        </p:nvSpPr>
        <p:spPr>
          <a:xfrm>
            <a:off x="7452360" y="2286000"/>
            <a:ext cx="4297680" cy="3794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ip 特別考量"/>
          <p:cNvSpPr txBox="1"/>
          <p:nvPr/>
        </p:nvSpPr>
        <p:spPr>
          <a:xfrm>
            <a:off x="7635240" y="2423160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880360"/>
            <a:ext cx="397764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績優分行（折減目標）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130%～150%：115年成長目標＝114年預估實績之 90%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150%～200%：＝114年預估實績之 80%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200% 以上：＝114年預估實績之 70%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其他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近三年成立之分行目標另定之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依個別分行特殊狀況增減目標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「114年預估實績」＝114年1-10月年化實績；「114年分行目標」＝114年年末調整後之分行目標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營業單位綜合指標訂定規則（佔5%）</a:t>
            </a:r>
            <a:endParaRPr lang="en-US" sz="3000" dirty="0"/>
          </a:p>
        </p:txBody>
      </p:sp>
      <p:sp>
        <p:nvSpPr>
          <p:cNvPr id="3" name="chip 指標組成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指標組成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綜合指標由 </a:t>
            </a:r>
            <a:r>
              <a:rPr lang="en-US" sz="1500" b="1" dirty="0">
                <a:solidFill>
                  <a:srgbClr val="C00000"/>
                </a:solidFill>
              </a:rPr>
              <a:t>5 項指標</a:t>
            </a:r>
            <a:r>
              <a:rPr lang="en-US" sz="1500" dirty="0">
                <a:solidFill>
                  <a:srgbClr val="000000"/>
                </a:solidFill>
              </a:rPr>
              <a:t> 組成，各指標目標分配數 ＝ 計算基礎 × 係數；係數以該指標目標分配數 ÷ 全行加權基礎推算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13816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計算基礎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係數／單位目標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最近3年財管平均手續費收入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最近3年（112年、113年、114年1-10月年化）平均財管手收，達成率以100%為上限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國內自然人台外幣活期(儲)及定期(儲)存款 114年1-10月加權月平均餘額（活期×0.6、定期×1.4；80歲以上排除、65-80歲×50%）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理財客戶基金(不含貨幣型)、外國債券及人身保險實收總保費 114年1-10月加權月平均餘額（基金×1、外國債/保險×0.8）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114年1-10月月底平均人數（扣除臨時人員；外匯統轄行以95%計）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依114年組別（1～8組）給予權重 1.7～0.3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18萬元～4萬元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（見右表）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hip 組別指標（權重3%）"/>
          <p:cNvSpPr txBox="1"/>
          <p:nvPr/>
        </p:nvSpPr>
        <p:spPr>
          <a:xfrm>
            <a:off x="8869680" y="173736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組別指標（權重3%）</a:t>
            </a:r>
            <a:endParaRPr lang="en-US" sz="16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0" y="2194560"/>
          <a:ext cx="283464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114年組別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目標分配數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12萬元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7F7F"/>
                </a:solidFill>
              </a:rPr>
              <a:t>※ 綜合指標目標分配數＝118億 × 5% ＝ 5.9億元，依上列權重分配至各指標。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116年度 目標訂定原則：方案1 vs 方案2 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116年度兩方案皆沿用「成長目標 ＋ 綜合指標」架構，差異在 </a:t>
            </a:r>
            <a:r>
              <a:rPr lang="en-US" sz="1500" b="1" dirty="0">
                <a:solidFill>
                  <a:srgbClr val="C00000"/>
                </a:solidFill>
              </a:rPr>
              <a:t>計算基礎金額、兩者佔比及成長目標級距設計</a:t>
            </a:r>
            <a:endParaRPr lang="en-US" sz="1500" dirty="0"/>
          </a:p>
        </p:txBody>
      </p:sp>
      <p:sp>
        <p:nvSpPr>
          <p:cNvPr id="5" name="card 計算基礎"/>
          <p:cNvSpPr/>
          <p:nvPr/>
        </p:nvSpPr>
        <p:spPr>
          <a:xfrm>
            <a:off x="45720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計算基礎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118 億元</a:t>
            </a:r>
            <a:endParaRPr lang="en-US" sz="2400" dirty="0"/>
          </a:p>
        </p:txBody>
      </p:sp>
      <p:sp>
        <p:nvSpPr>
          <p:cNvPr id="9" name="arrow"/>
          <p:cNvSpPr/>
          <p:nvPr/>
        </p:nvSpPr>
        <p:spPr>
          <a:xfrm>
            <a:off x="205740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140 億元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130 億元</a:t>
            </a:r>
            <a:endParaRPr lang="en-US" sz="2600" dirty="0"/>
          </a:p>
        </p:txBody>
      </p:sp>
      <p:sp>
        <p:nvSpPr>
          <p:cNvPr id="14" name="divider"/>
          <p:cNvSpPr/>
          <p:nvPr/>
        </p:nvSpPr>
        <p:spPr>
          <a:xfrm>
            <a:off x="224028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rd 成長目標佔比"/>
          <p:cNvSpPr/>
          <p:nvPr/>
        </p:nvSpPr>
        <p:spPr>
          <a:xfrm>
            <a:off x="429768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44805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成長目標佔比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95%</a:t>
            </a:r>
            <a:endParaRPr lang="en-US" sz="2400" dirty="0"/>
          </a:p>
        </p:txBody>
      </p:sp>
      <p:sp>
        <p:nvSpPr>
          <p:cNvPr id="19" name="arrow"/>
          <p:cNvSpPr/>
          <p:nvPr/>
        </p:nvSpPr>
        <p:spPr>
          <a:xfrm>
            <a:off x="589788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4805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85%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91%</a:t>
            </a:r>
            <a:endParaRPr lang="en-US" sz="2600" dirty="0"/>
          </a:p>
        </p:txBody>
      </p:sp>
      <p:sp>
        <p:nvSpPr>
          <p:cNvPr id="24" name="divider"/>
          <p:cNvSpPr/>
          <p:nvPr/>
        </p:nvSpPr>
        <p:spPr>
          <a:xfrm>
            <a:off x="608076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ard 綜合指標佔比"/>
          <p:cNvSpPr/>
          <p:nvPr/>
        </p:nvSpPr>
        <p:spPr>
          <a:xfrm>
            <a:off x="813816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 txBox="1"/>
          <p:nvPr/>
        </p:nvSpPr>
        <p:spPr>
          <a:xfrm>
            <a:off x="832104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綜合指標佔比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5%</a:t>
            </a:r>
            <a:endParaRPr lang="en-US" sz="2400" dirty="0"/>
          </a:p>
        </p:txBody>
      </p:sp>
      <p:sp>
        <p:nvSpPr>
          <p:cNvPr id="29" name="arrow"/>
          <p:cNvSpPr/>
          <p:nvPr/>
        </p:nvSpPr>
        <p:spPr>
          <a:xfrm>
            <a:off x="973836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 txBox="1"/>
          <p:nvPr/>
        </p:nvSpPr>
        <p:spPr>
          <a:xfrm>
            <a:off x="83210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9%</a:t>
            </a:r>
            <a:endParaRPr lang="en-US" sz="2600" dirty="0"/>
          </a:p>
        </p:txBody>
      </p:sp>
      <p:sp>
        <p:nvSpPr>
          <p:cNvPr id="34" name="divider"/>
          <p:cNvSpPr/>
          <p:nvPr/>
        </p:nvSpPr>
        <p:spPr>
          <a:xfrm>
            <a:off x="992124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ummary box"/>
          <p:cNvSpPr/>
          <p:nvPr/>
        </p:nvSpPr>
        <p:spPr>
          <a:xfrm>
            <a:off x="457200" y="4800600"/>
            <a:ext cx="1127455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chip 重　點"/>
          <p:cNvSpPr txBox="1"/>
          <p:nvPr/>
        </p:nvSpPr>
        <p:spPr>
          <a:xfrm>
            <a:off x="594360" y="51663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重　點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4846320"/>
            <a:ext cx="96926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00000"/>
                </a:solidFill>
              </a:rPr>
              <a:t>方案1：</a:t>
            </a:r>
            <a:r>
              <a:rPr lang="en-US" sz="1400" dirty="0">
                <a:solidFill>
                  <a:srgbClr val="000000"/>
                </a:solidFill>
              </a:rPr>
              <a:t>基礎較高（140億）、綜合指標佔比拉高至15%，成長目標分6級，達成率120%以上即以預估實績折減（70%～90%）。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60A14"/>
                </a:solidFill>
              </a:rPr>
              <a:t>方案2：</a:t>
            </a:r>
            <a:r>
              <a:rPr lang="en-US" sz="1400" dirty="0">
                <a:solidFill>
                  <a:srgbClr val="000000"/>
                </a:solidFill>
              </a:rPr>
              <a:t>基礎130億、綜合指標9%，成長目標簡化為4級，高達成率分行以「分行目標」為基準，未達80%者以目標之80%再成長20%。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成長目標規則比較（115年 vs 116年兩方案）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115年（現行）佔95%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依114年年化達成率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75%～90%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方案1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150%～180%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4152" y="1188720"/>
          <a:ext cx="3657600" cy="307543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方案2　佔91%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維持115年目標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（公式：分行目標 × 120%）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115年分行目標 × 80% × 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notes panel"/>
          <p:cNvSpPr/>
          <p:nvPr/>
        </p:nvSpPr>
        <p:spPr>
          <a:xfrm>
            <a:off x="457200" y="4800600"/>
            <a:ext cx="11274552" cy="1371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hip 特別考量差異"/>
          <p:cNvSpPr txBox="1"/>
          <p:nvPr/>
        </p:nvSpPr>
        <p:spPr>
          <a:xfrm>
            <a:off x="594360" y="4937760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特別考量差異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2377440" y="4846320"/>
            <a:ext cx="923544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115年：</a:t>
            </a:r>
            <a:r>
              <a:rPr lang="en-US" sz="1200" dirty="0">
                <a:solidFill>
                  <a:srgbClr val="000000"/>
                </a:solidFill>
              </a:rPr>
              <a:t>績優分行另列（130%／150%／200% 門檻 → 預估實績之 90%／80%／70%）；達成率未達100%者以「分行目標」為基準加成。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方案1：</a:t>
            </a:r>
            <a:r>
              <a:rPr lang="en-US" sz="1200" dirty="0">
                <a:solidFill>
                  <a:srgbClr val="000000"/>
                </a:solidFill>
              </a:rPr>
              <a:t>取消績優分行獨立條款，折減直接併入級距（120%以上即折減）；全級距皆以「預估實績」為基準，未達100%者僅成長2%～3%。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方案2：</a:t>
            </a:r>
            <a:r>
              <a:rPr lang="en-US" sz="1200" dirty="0">
                <a:solidFill>
                  <a:srgbClr val="000000"/>
                </a:solidFill>
              </a:rPr>
              <a:t>級距簡化為4級；120%以上「維持115年目標」、未達80%以「分行目標×80%×120%」計算。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</a:rPr>
              <a:t>三者共同：</a:t>
            </a:r>
            <a:r>
              <a:rPr lang="en-US" sz="1200" dirty="0">
                <a:solidFill>
                  <a:srgbClr val="000000"/>
                </a:solidFill>
              </a:rPr>
              <a:t>近三年成立分行另定、依個別分行特殊狀況增減、預估實績採1-10月年化、分行目標為年末調整後目標。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綜合指標訂定規則比較（115年 vs 116年兩方案）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22452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115年（現行）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方案1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方案2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綜合指標佔比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15%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（文件小標註記7%，待確認）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最近3年（112、113、114年1-10月年化）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30%，×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前2年（113年及114年）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114年1-10月加權月平均餘額（依文件）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22%，×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依114年組別，權重 3%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第1組18萬元 ～ 第8組4萬元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依115年組別，權重 5%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第1組111萬元 ～ 第8組20萬元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5%，111萬元 ～ 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※ 方案1與方案2之綜合指標五項規則（指標期間、權重、係數、組別分配數）完全相同，兩者僅「綜合指標佔比」不同（15% vs 9%）。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116年兩方案文件之【註2】【註4】【註6】仍沿用115年文字（係數0.00015／0.00030／25,259、分母以114年資料計），與正文係數不一致，待確認更新。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指標權重調整整理：115年 → 116年</a:t>
            </a:r>
            <a:endParaRPr lang="en-US" sz="3000" dirty="0"/>
          </a:p>
        </p:txBody>
      </p:sp>
      <p:sp>
        <p:nvSpPr>
          <p:cNvPr id="3" name="chip 整體架構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整體架構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綜合指標佔比由 </a:t>
            </a:r>
            <a:r>
              <a:rPr lang="en-US" sz="1500" b="1" dirty="0">
                <a:solidFill>
                  <a:srgbClr val="7F7F7F"/>
                </a:solidFill>
              </a:rPr>
              <a:t>5%</a:t>
            </a:r>
            <a:r>
              <a:rPr lang="en-US" sz="1500" dirty="0">
                <a:solidFill>
                  <a:srgbClr val="000000"/>
                </a:solidFill>
              </a:rPr>
              <a:t> 提高至 </a:t>
            </a:r>
            <a:r>
              <a:rPr lang="en-US" sz="1500" b="1" dirty="0">
                <a:solidFill>
                  <a:srgbClr val="C00000"/>
                </a:solidFill>
              </a:rPr>
              <a:t>15%（方案1）</a:t>
            </a:r>
            <a:r>
              <a:rPr lang="en-US" sz="1500" dirty="0">
                <a:solidFill>
                  <a:srgbClr val="000000"/>
                </a:solidFill>
              </a:rPr>
              <a:t>／</a:t>
            </a:r>
            <a:r>
              <a:rPr lang="en-US" sz="1500" b="1" dirty="0">
                <a:solidFill>
                  <a:srgbClr val="960A14"/>
                </a:solidFill>
              </a:rPr>
              <a:t>9%（方案2）</a:t>
            </a:r>
            <a:r>
              <a:rPr lang="en-US" sz="1500" dirty="0">
                <a:solidFill>
                  <a:srgbClr val="000000"/>
                </a:solidFill>
              </a:rPr>
              <a:t>，成長目標佔比相對由 95% 降至 85%／91%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6" name="bar growth 115年（現行）"/>
          <p:cNvSpPr txBox="1"/>
          <p:nvPr/>
        </p:nvSpPr>
        <p:spPr>
          <a:xfrm>
            <a:off x="2103120" y="1783080"/>
            <a:ext cx="903427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95%</a:t>
            </a:r>
            <a:endParaRPr lang="en-US" sz="1200" dirty="0"/>
          </a:p>
        </p:txBody>
      </p:sp>
      <p:sp>
        <p:nvSpPr>
          <p:cNvPr id="7" name="bar composite 115年（現行）"/>
          <p:cNvSpPr txBox="1"/>
          <p:nvPr/>
        </p:nvSpPr>
        <p:spPr>
          <a:xfrm>
            <a:off x="11137392" y="1783080"/>
            <a:ext cx="475488" cy="347472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9" name="bar growth 116年 方案1"/>
          <p:cNvSpPr txBox="1"/>
          <p:nvPr/>
        </p:nvSpPr>
        <p:spPr>
          <a:xfrm>
            <a:off x="2103120" y="22402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0" name="bar composite 116年 方案1"/>
          <p:cNvSpPr txBox="1"/>
          <p:nvPr/>
        </p:nvSpPr>
        <p:spPr>
          <a:xfrm>
            <a:off x="10186416" y="2240280"/>
            <a:ext cx="1426464" cy="347472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bar growth 116年 方案2"/>
          <p:cNvSpPr txBox="1"/>
          <p:nvPr/>
        </p:nvSpPr>
        <p:spPr>
          <a:xfrm>
            <a:off x="2103120" y="2697480"/>
            <a:ext cx="865388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91%</a:t>
            </a:r>
            <a:endParaRPr lang="en-US" sz="1200" dirty="0"/>
          </a:p>
        </p:txBody>
      </p:sp>
      <p:sp>
        <p:nvSpPr>
          <p:cNvPr id="13" name="bar composite 116年 方案2"/>
          <p:cNvSpPr txBox="1"/>
          <p:nvPr/>
        </p:nvSpPr>
        <p:spPr>
          <a:xfrm>
            <a:off x="10757002" y="2697480"/>
            <a:ext cx="855878" cy="347472"/>
          </a:xfrm>
          <a:prstGeom prst="rect">
            <a:avLst/>
          </a:prstGeom>
          <a:solidFill>
            <a:srgbClr val="960A14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9%</a:t>
            </a:r>
            <a:endParaRPr lang="en-US" sz="1100" dirty="0"/>
          </a:p>
        </p:txBody>
      </p:sp>
      <p:sp>
        <p:nvSpPr>
          <p:cNvPr id="14" name="chip 綜合指標內部權重（方案1、方案2相同）"/>
          <p:cNvSpPr txBox="1"/>
          <p:nvPr/>
        </p:nvSpPr>
        <p:spPr>
          <a:xfrm>
            <a:off x="457200" y="3291840"/>
            <a:ext cx="4206240" cy="384048"/>
          </a:xfrm>
          <a:prstGeom prst="roundRect">
            <a:avLst>
              <a:gd name="adj" fmla="val 19048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綜合指標內部權重（方案1、方案2相同）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變動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▼ -10%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" name="Chart 0"/>
          <p:cNvGraphicFramePr/>
          <p:nvPr/>
        </p:nvGraphicFramePr>
        <p:xfrm>
          <a:off x="5852160" y="3246120"/>
          <a:ext cx="5897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係數同步調整：平均手收 0.02968→0.06582、存款 0.00015→0.00054、投資AUM 0.00030→0.00124、人數 25,259→109,768元／人、組別分配數 18～4萬→111～20萬元。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營業單位目標調整原則（三版本相同）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配合財務會計部調整年度盈餘目標時程，營業單位目標依下列 </a:t>
            </a:r>
            <a:r>
              <a:rPr lang="en-US" sz="1400" b="1" dirty="0">
                <a:solidFill>
                  <a:srgbClr val="C00000"/>
                </a:solidFill>
              </a:rPr>
              <a:t>6 項原則</a:t>
            </a:r>
            <a:r>
              <a:rPr lang="en-US" sz="1400" dirty="0">
                <a:solidFill>
                  <a:srgbClr val="000000"/>
                </a:solidFill>
              </a:rPr>
              <a:t> 調整（116年僅將比較基期由114年改為115年1-10月）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num 1"/>
          <p:cNvSpPr txBox="1"/>
          <p:nvPr/>
        </p:nvSpPr>
        <p:spPr>
          <a:xfrm>
            <a:off x="59436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國內自然人存款大幅流失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單一客戶存款餘額較1-10月月平均減少達5,000萬元以上，且營業單位合計減少達3億元以上 → 依存款指標方式調降目標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429768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 2"/>
          <p:cNvSpPr txBox="1"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理財客戶投資餘額大幅減少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（不含貨幣型基金）單一客戶減少達1,000萬元以上，且營業單位合計減少達5,000萬元以上 → 依投資餘額指標方式調降目標</a:t>
            </a:r>
            <a:endParaRPr lang="en-US" sz="1400" dirty="0"/>
          </a:p>
        </p:txBody>
      </p:sp>
      <p:sp>
        <p:nvSpPr>
          <p:cNvPr id="12" name="card 3"/>
          <p:cNvSpPr/>
          <p:nvPr/>
        </p:nvSpPr>
        <p:spPr>
          <a:xfrm>
            <a:off x="813816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um 3"/>
          <p:cNvSpPr txBox="1"/>
          <p:nvPr/>
        </p:nvSpPr>
        <p:spPr>
          <a:xfrm>
            <a:off x="827532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跨分行移轉客戶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依目標訂定方式計算客戶目標影響數，以影響數之 8成 減少移出行目標、同時增加移入行目標</a:t>
            </a:r>
            <a:endParaRPr lang="en-US" sz="1400" dirty="0"/>
          </a:p>
        </p:txBody>
      </p:sp>
      <p:sp>
        <p:nvSpPr>
          <p:cNvPr id="16" name="card 4"/>
          <p:cNvSpPr/>
          <p:nvPr/>
        </p:nvSpPr>
        <p:spPr>
          <a:xfrm>
            <a:off x="45720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um 4"/>
          <p:cNvSpPr txBox="1"/>
          <p:nvPr/>
        </p:nvSpPr>
        <p:spPr>
          <a:xfrm>
            <a:off x="59436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行舍搬遷／業務合併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致理財及存款客戶流失，或其他足以影響分行財富管理業務目標達成之因素</a:t>
            </a:r>
            <a:endParaRPr lang="en-US" sz="1400" dirty="0"/>
          </a:p>
        </p:txBody>
      </p:sp>
      <p:sp>
        <p:nvSpPr>
          <p:cNvPr id="20" name="card 5"/>
          <p:cNvSpPr/>
          <p:nvPr/>
        </p:nvSpPr>
        <p:spPr>
          <a:xfrm>
            <a:off x="429768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um 5"/>
          <p:cNvSpPr txBox="1"/>
          <p:nvPr/>
        </p:nvSpPr>
        <p:spPr>
          <a:xfrm>
            <a:off x="443484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承作聯行客戶未移轉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承作專屬理專所屬行為聯行之客戶而未移轉，致影響聯行推展者 → 按影響數 100% 增加承作行目標、同時減少客戶所屬行目標</a:t>
            </a:r>
            <a:endParaRPr lang="en-US" sz="1400" dirty="0"/>
          </a:p>
        </p:txBody>
      </p:sp>
      <p:sp>
        <p:nvSpPr>
          <p:cNvPr id="24" name="card 6"/>
          <p:cNvSpPr/>
          <p:nvPr/>
        </p:nvSpPr>
        <p:spPr>
          <a:xfrm>
            <a:off x="813816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num 6"/>
          <p:cNvSpPr txBox="1"/>
          <p:nvPr/>
        </p:nvSpPr>
        <p:spPr>
          <a:xfrm>
            <a:off x="827532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理財人員請長假／異動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門檻：近6個月自銷業績占分行業績達5成以上；以近6個月自銷月均（扣除遞補理專差額）× 6個月影響數之 3成 調整目標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附錄：116年方案文件待確認事項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整理比較時發現 116 年兩方案文件有下列 </a:t>
            </a:r>
            <a:r>
              <a:rPr lang="en-US" sz="1500" b="1" dirty="0">
                <a:solidFill>
                  <a:srgbClr val="C00000"/>
                </a:solidFill>
              </a:rPr>
              <a:t>文字／數字不一致</a:t>
            </a:r>
            <a:r>
              <a:rPr lang="en-US" sz="1500" dirty="0">
                <a:solidFill>
                  <a:srgbClr val="000000"/>
                </a:solidFill>
              </a:rPr>
              <a:t> 之處，建議定稿前確認：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位置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文件內容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疑點／建議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方案1 第2.(2)點小標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「營業單位綜合指標之目標（佔7%）」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前文與方案架構為 15%；7% 疑為舊版殘留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方案2 成長目標表 第1列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「120%以上：維持115年目標」，公式欄為「分行目標×120%」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文字（維持）與公式（×120%）矛盾，請確認何者正確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計算期間仍為「114年1至10月」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其餘指標已改為115年1-10月，存款指標疑漏改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兩方案【註2】【註4】【註6】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係數仍寫 0.00015／0.00030／25,259，分母為114年資料、分配數29.5億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與正文新係數（0.00054／0.00124／109,768）不符，註釋未同步更新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第2點前言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「115年度…目標為『116年成長目標』…」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年度應為 116年度（文字誤植）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平均手收指標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「前2年（113年及114年）」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116年目標理應採 114年及115年（1-10月年化），請確認基期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115年年化：目標 117.85億 → 實績 124.86億（達成 105.9%），整體達標掩蓋了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51206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488436"/>
            <a:ext cx="1188720" cy="1632204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683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115年目標</a:t>
            </a:r>
            <a:endParaRPr lang="en-US" sz="1000" dirty="0"/>
          </a:p>
        </p:txBody>
      </p:sp>
      <p:sp>
        <p:nvSpPr>
          <p:cNvPr id="8" name="bar 115年超額 99家 達標群52＋未達標群47"/>
          <p:cNvSpPr/>
          <p:nvPr/>
        </p:nvSpPr>
        <p:spPr>
          <a:xfrm>
            <a:off x="2423160" y="2095805"/>
            <a:ext cx="1188720" cy="1392631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115年超額 99家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達標群52＋未達標群47</a:t>
            </a:r>
            <a:endParaRPr lang="en-US" sz="10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488436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115年未達成 84家 達標群18＋未達標群66"/>
          <p:cNvSpPr/>
          <p:nvPr/>
        </p:nvSpPr>
        <p:spPr>
          <a:xfrm>
            <a:off x="4023360" y="2095805"/>
            <a:ext cx="1188720" cy="751637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115年未達成 84家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達標群18＋未達標群66</a:t>
            </a:r>
            <a:endParaRPr lang="en-US" sz="10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958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847442"/>
            <a:ext cx="1188720" cy="2273198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52740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115年年化實績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</a:rPr>
              <a:t>家數檢核：183家 ＝ 115年超額 99家 ＋ 115年未達成 84家；右表66家為「114年未達標群113家」中115年再次未達成者，其餘47家已超額。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</a:rPr>
              <a:t>單位：億元；縱軸自100億起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A9B6"/>
                </a:solidFill>
              </a:rPr>
              <a:t>超額 15.23億 組成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114達標群 52家：+9.08億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114未達標群 47家：+6.16億</a:t>
            </a:r>
            <a:endParaRPr lang="en-US" sz="1050" dirty="0"/>
          </a:p>
        </p:txBody>
      </p:sp>
      <p:sp>
        <p:nvSpPr>
          <p:cNvPr id="21" name="gap panel"/>
          <p:cNvSpPr/>
          <p:nvPr/>
        </p:nvSpPr>
        <p:spPr>
          <a:xfrm>
            <a:off x="6949440" y="1417320"/>
            <a:ext cx="480060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chip 缺口 8.23億 來自誰"/>
          <p:cNvSpPr txBox="1"/>
          <p:nvPr/>
        </p:nvSpPr>
        <p:spPr>
          <a:xfrm>
            <a:off x="7086600" y="1554480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缺口 8.23億 來自誰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057400"/>
          <a:ext cx="45262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1097280"/>
                <a:gridCol w="8686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115年未達成家數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90～100%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16家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−1.49億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75～90%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−3.43億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42%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−2.18億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26%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086600" y="4709160"/>
            <a:ext cx="4526280" cy="1325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</a:rPr>
              <a:t>114年未達標群113家中，115年有66家再次未達成、缺口 7.1億，占全行缺口 86%；其餘47家超額 6.2億。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</a:rPr>
              <a:t>這些缺口由 99 家超額分行（多為績優分行）的 15.2億 填補，全行仍達成 105.9%，使結構問題在總數中被掩蓋。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1671</Words>
  <Application>Microsoft Office PowerPoint</Application>
  <PresentationFormat>寬螢幕</PresentationFormat>
  <Paragraphs>333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微軟正黑體</vt:lpstr>
      <vt:lpstr>Arial</vt:lpstr>
      <vt:lpstr>HNCB Red</vt:lpstr>
      <vt:lpstr>115年度 財富管理手續費收入目標訂定原則</vt:lpstr>
      <vt:lpstr>115年度 營業單位綜合指標訂定規則（佔5%）</vt:lpstr>
      <vt:lpstr>116年度 目標訂定原則：方案1 vs 方案2 總覽</vt:lpstr>
      <vt:lpstr>成長目標規則比較（115年 vs 116年兩方案）</vt:lpstr>
      <vt:lpstr>綜合指標訂定規則比較（115年 vs 116年兩方案）</vt:lpstr>
      <vt:lpstr>指標權重調整整理：115年 → 116年</vt:lpstr>
      <vt:lpstr>營業單位目標調整原則（三版本相同）</vt:lpstr>
      <vt:lpstr>附錄：116年方案文件待確認事項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羅國峯</cp:lastModifiedBy>
  <cp:revision>1</cp:revision>
  <dcterms:created xsi:type="dcterms:W3CDTF">2026-10-20T01:38:09Z</dcterms:created>
  <dcterms:modified xsi:type="dcterms:W3CDTF">2026-10-20T01:56:24Z</dcterms:modified>
</cp:coreProperties>
</file>