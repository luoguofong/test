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15年度 目標訂定原則（現行）" id="{f876f62c-24e5-3965-72c1-c1459e717a83}">
          <p14:sldIdLst>
            <p14:sldId id="256"/>
            <p14:sldId id="257"/>
          </p14:sldIdLst>
        </p14:section>
        <p14:section name="116年度 方案1 vs 方案2 比較" id="{9e083485-0e36-0550-4145-b530f72e496c}">
          <p14:sldIdLst>
            <p14:sldId id="258"/>
            <p14:sldId id="259"/>
            <p14:sldId id="260"/>
          </p14:sldIdLst>
        </p14:section>
        <p14:section name="指標權重調整整理" id="{423c9691-8a53-e073-939c-94223d20b15e}">
          <p14:sldIdLst>
            <p14:sldId id="261"/>
          </p14:sldIdLst>
        </p14:section>
        <p14:section name="目標調整原則與待確認事項" id="{8d9f5b79-76e2-bf17-b866-ad6c02b37f49}">
          <p14:sldIdLst>
            <p14:sldId id="262"/>
            <p14:sldId id="263"/>
          </p14:sldIdLst>
        </p14:section>
        <p14:section name="10/20 會議結論與待辦事項" id="{b41fa064-84fb-4897-2347-ca92947c13e1}">
          <p14:sldIdLst>
            <p14:sldId id="264"/>
            <p14:sldId id="265"/>
          </p14:sldIdLst>
        </p14:section>
        <p14:section name="116年激勵方案 vs 115年獎勵比較" id="{94a95bf9-d193-5d42-9e71-50d55257f808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+mn-lt"/>
              </a:rPr>
              <a:t>綜合指標權重：115年 vs 116年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115年</c:v>
                </c:pt>
              </c:strCache>
            </c:strRef>
          </c:tx>
          <c:spPr>
            <a:solidFill>
              <a:srgbClr val="C5C5C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平均手續費收入</c:v>
                  </c:pt>
                  <c:pt idx="1">
                    <c:v>存款</c:v>
                  </c:pt>
                  <c:pt idx="2">
                    <c:v>投資類AUM</c:v>
                  </c:pt>
                  <c:pt idx="3">
                    <c:v>人數</c:v>
                  </c:pt>
                  <c:pt idx="4">
                    <c:v>組別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22</c:v>
                </c:pt>
                <c:pt idx="4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116年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平均手續費收入</c:v>
                  </c:pt>
                  <c:pt idx="1">
                    <c:v>存款</c:v>
                  </c:pt>
                  <c:pt idx="2">
                    <c:v>投資類AUM</c:v>
                  </c:pt>
                  <c:pt idx="3">
                    <c:v>人數</c:v>
                  </c:pt>
                  <c:pt idx="4">
                    <c:v>組別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  <c:pt idx="4">
                  <c:v>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00000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115年度現行規則：計算基礎118億元，成長目標95%＋綜合指標5%。績優分行以預估實績折減為90%/80%/70%。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115年綜合指標五項：平均手收30%、存款25%、投資AUM 20%、人數22%、組別3%。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116年兩方案總覽：方案1 140億、方案2 130億；兩方案皆為成長目標85%＋綜合指標15%。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成長目標級距三版本並列比較。方案2「120%以上」文字為維持115年目標，但公式寫分行目標×120%，待確認。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綜合指標規則比較：方案1與方案2規則相同，僅佔比不同。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權重調整：平均手收 -10%、存款持平、投資AUM +5%、人數 +3%、組別 +2%。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六項目標調整原則，三份文件內容一致。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文件待確認事項清單。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10/20會議結論：權重85/15、級距9→6、天花板（120%或130%以上）、地板（未達75%以分行目標八折起算）。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待辦：實績驗證、地板與天花板試算、總體區間試算、獎勵方案試算。呈報策略：聚焦規則邏輯，總額待財會部定案。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116年激勵方案費用總覽：達125億 49,113萬（-338萬）、達140億 62,432萬（+12,981萬）。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每季達標獎：級距簡化、門檻下修、發放率提高；加權數門檻上調。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年度卓越獎：門檻上調、金額不變。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客群經營盈餘共享：發放率全面提高，費用增加最多。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經理及理財主管：達標獎重分級並提高金額，取消目標超額成長獎。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績效理專刪除、轉介同仁新增（費用相同）、通路中心經理不變、通路中心門檻下修金額提高。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" y="64008"/>
            <a:ext cx="1435608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23360" y="63367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〔僅供行內教育訓練使用〕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115年度 財富管理手續費收入目標訂定原則</a:t>
            </a:r>
            <a:endParaRPr lang="en-US" sz="3000" dirty="0"/>
          </a:p>
        </p:txBody>
      </p:sp>
      <p:sp>
        <p:nvSpPr>
          <p:cNvPr id="3" name="chip 計算基礎"/>
          <p:cNvSpPr txBox="1"/>
          <p:nvPr/>
        </p:nvSpPr>
        <p:spPr>
          <a:xfrm>
            <a:off x="457200" y="114300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計算基礎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1097280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115年度國內營業單位財富管理業務手續費收入目標以 </a:t>
            </a:r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118億元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為計算基礎</a:t>
            </a:r>
            <a:endParaRPr lang="en-US" sz="1600" dirty="0"/>
          </a:p>
        </p:txBody>
      </p:sp>
      <p:sp>
        <p:nvSpPr>
          <p:cNvPr id="5" name="chip 訂定方式"/>
          <p:cNvSpPr txBox="1"/>
          <p:nvPr/>
        </p:nvSpPr>
        <p:spPr>
          <a:xfrm>
            <a:off x="457200" y="169164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訂定方式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1645920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「115年成長目標」</a:t>
            </a:r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</a:rPr>
              <a:t>佔95%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　＋　「營業單位綜合指標之目標」</a:t>
            </a:r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</a:rPr>
              <a:t>佔5%</a:t>
            </a:r>
            <a:endParaRPr lang="en-US" sz="1600" dirty="0"/>
          </a:p>
        </p:txBody>
      </p:sp>
      <p:sp>
        <p:nvSpPr>
          <p:cNvPr id="7" name="chip 成長目標（佔95%）"/>
          <p:cNvSpPr txBox="1"/>
          <p:nvPr/>
        </p:nvSpPr>
        <p:spPr>
          <a:xfrm>
            <a:off x="457200" y="228600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成長目標（佔95%）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97480"/>
          <a:ext cx="6675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1031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114年年化達成率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115年成長目標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計算公式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200%以上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114年預估實績之70%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114年預估實績 × 70%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150%以上，未達200%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114年預估實績之80%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114年預估實績 × 80%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130%以上，未達150%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114年預估實績之90%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114年預估實績 × 90%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120%以上，未達130%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114年預估實績成長1%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114年預估實績 × 101%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110%以上，未達120%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114年預估實績成長3%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114年預估實績 × 103%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100%以上，未達110%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114年預估實績成長5%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114年預估實績 × 105%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90%以上，未達100%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114年分行目標成長5%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114年分行目標 × 105%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75%以上，未達90%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114年分行目標成長10%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114年分行目標 × 110%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未達75%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114年分行目標成長15%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114年分行目標 × 115%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panel"/>
          <p:cNvSpPr/>
          <p:nvPr/>
        </p:nvSpPr>
        <p:spPr>
          <a:xfrm>
            <a:off x="7452360" y="2286000"/>
            <a:ext cx="4297680" cy="379476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0" name="chip 特別考量"/>
          <p:cNvSpPr txBox="1"/>
          <p:nvPr/>
        </p:nvSpPr>
        <p:spPr>
          <a:xfrm>
            <a:off x="7635240" y="242316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960A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特別考量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2880360"/>
            <a:ext cx="3977640" cy="3108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00000"/>
                </a:solidFill>
              </a:rPr>
              <a:t>績優分行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114年年化達成率130%以上者為績優分行，115年成長目標以114年預估實績折減（90%／80%／70%），即左表淺紅底三列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00000"/>
                </a:solidFill>
              </a:rPr>
              <a:t>其他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近三年成立之分行目標另定之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依個別分行特殊狀況增減目標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「114年預估實績」＝114年1-10月年化實績；「114年分行目標」＝114年年末調整後之分行目標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115年度 營業單位綜合指標訂定規則（佔5%）</a:t>
            </a:r>
            <a:endParaRPr lang="en-US" sz="3000" dirty="0"/>
          </a:p>
        </p:txBody>
      </p:sp>
      <p:sp>
        <p:nvSpPr>
          <p:cNvPr id="3" name="chip 指標組成"/>
          <p:cNvSpPr txBox="1"/>
          <p:nvPr/>
        </p:nvSpPr>
        <p:spPr>
          <a:xfrm>
            <a:off x="457200" y="114300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指標組成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1097280"/>
            <a:ext cx="96926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綜合指標由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5 項指標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 組成，各指標目標分配數 ＝ 計算基礎 × 係數；係數以該指標目標分配數 ÷ 全行加權基礎推算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13816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731520"/>
                <a:gridCol w="397764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指標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權重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計算基礎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係數／單位目標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最近3年財管平均手續費收入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30%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最近3年（112年、113年、114年1-10月年化）平均財管手收，達成率以100%為上限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× 0.02968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存款指標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25%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國內自然人台外幣活期(儲)及定期(儲)存款 114年1-10月加權月平均餘額（活期×0.6、定期×1.4；80歲以上排除、65-80歲×50%）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× 0.00015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投資類AUM指標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（基金＋保險＋外國債）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20%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理財客戶基金(不含貨幣型)、外國債券及人身保險實收總保費 114年1-10月加權月平均餘額（基金×1、外國債/保險×0.8）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× 0.00030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人數指標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22%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114年1-10月月底平均人數（扣除臨時人員；外匯統轄行以95%計）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× 25,259元／人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組別指標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3%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依114年組別（1～8組）給予權重 1.7～0.3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18萬元～4萬元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（見右表）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hip 組別指標（權重3%）"/>
          <p:cNvSpPr txBox="1"/>
          <p:nvPr/>
        </p:nvSpPr>
        <p:spPr>
          <a:xfrm>
            <a:off x="8869680" y="1737360"/>
            <a:ext cx="2834640" cy="365760"/>
          </a:xfrm>
          <a:prstGeom prst="roundRect">
            <a:avLst>
              <a:gd name="adj" fmla="val 20000"/>
            </a:avLst>
          </a:prstGeom>
          <a:solidFill>
            <a:srgbClr val="960A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組別指標（權重3%）</a:t>
            </a:r>
            <a:endParaRPr lang="en-US" sz="16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69680" y="2194560"/>
          <a:ext cx="28346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3152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114年組別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權重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目標分配數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1.7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18萬元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1.5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16萬元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1.3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14萬元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1.1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12萬元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0.9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10萬元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0.7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8萬元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0.5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6萬元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0.3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4萬元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58978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</a:rPr>
              <a:t>※ 綜合指標目標分配數＝118億 × 5% ＝ 5.9億元，依上列權重分配至各指標。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116年度 目標訂定原則：方案1 vs 方案2 總覽</a:t>
            </a:r>
            <a:endParaRPr lang="en-US" sz="3000" dirty="0"/>
          </a:p>
        </p:txBody>
      </p:sp>
      <p:sp>
        <p:nvSpPr>
          <p:cNvPr id="3" name="chip 比較基礎"/>
          <p:cNvSpPr txBox="1"/>
          <p:nvPr/>
        </p:nvSpPr>
        <p:spPr>
          <a:xfrm>
            <a:off x="457200" y="114300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比較基礎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1097280"/>
            <a:ext cx="96926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116年度兩方案皆沿用「成長目標85% ＋ 綜合指標15%」架構，差異在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計算基礎金額與成長目標級距設計</a:t>
            </a:r>
            <a:endParaRPr lang="en-US" sz="1500" dirty="0"/>
          </a:p>
        </p:txBody>
      </p:sp>
      <p:sp>
        <p:nvSpPr>
          <p:cNvPr id="5" name="card 計算基礎"/>
          <p:cNvSpPr/>
          <p:nvPr/>
        </p:nvSpPr>
        <p:spPr>
          <a:xfrm>
            <a:off x="457200" y="1783080"/>
            <a:ext cx="3566160" cy="274320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74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計算基礎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7F7F"/>
                </a:solidFill>
              </a:rPr>
              <a:t>115年（現行）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118 億元</a:t>
            </a:r>
            <a:endParaRPr lang="en-US" sz="2400" dirty="0"/>
          </a:p>
        </p:txBody>
      </p:sp>
      <p:sp>
        <p:nvSpPr>
          <p:cNvPr id="9" name="arrow"/>
          <p:cNvSpPr/>
          <p:nvPr/>
        </p:nvSpPr>
        <p:spPr>
          <a:xfrm>
            <a:off x="2057400" y="3127248"/>
            <a:ext cx="365760" cy="320040"/>
          </a:xfrm>
          <a:prstGeom prst="downArrow">
            <a:avLst/>
          </a:prstGeom>
          <a:solidFill>
            <a:srgbClr val="D96C6C"/>
          </a:solidFill>
          <a:ln w="12700">
            <a:solidFill>
              <a:srgbClr val="D96C6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520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</a:rPr>
              <a:t>116年 方案1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3520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60A14"/>
                </a:solidFill>
              </a:rPr>
              <a:t>116年 方案2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794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</a:rPr>
              <a:t>140 億元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3794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60A14"/>
                </a:solidFill>
              </a:rPr>
              <a:t>130 億元</a:t>
            </a:r>
            <a:endParaRPr lang="en-US" sz="2600" dirty="0"/>
          </a:p>
        </p:txBody>
      </p:sp>
      <p:sp>
        <p:nvSpPr>
          <p:cNvPr id="14" name="divider"/>
          <p:cNvSpPr/>
          <p:nvPr/>
        </p:nvSpPr>
        <p:spPr>
          <a:xfrm>
            <a:off x="2240280" y="3566160"/>
            <a:ext cx="0" cy="777240"/>
          </a:xfrm>
          <a:prstGeom prst="line">
            <a:avLst/>
          </a:prstGeom>
          <a:noFill/>
          <a:ln w="12700">
            <a:solidFill>
              <a:srgbClr val="C5C5C5"/>
            </a:solidFill>
            <a:prstDash val="solid"/>
          </a:ln>
        </p:spPr>
      </p:sp>
      <p:sp>
        <p:nvSpPr>
          <p:cNvPr id="15" name="card 成長目標佔比"/>
          <p:cNvSpPr/>
          <p:nvPr/>
        </p:nvSpPr>
        <p:spPr>
          <a:xfrm>
            <a:off x="4297680" y="1783080"/>
            <a:ext cx="3566160" cy="274320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80560" y="1874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成長目標佔比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7F7F"/>
                </a:solidFill>
              </a:rPr>
              <a:t>115年（現行）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95%</a:t>
            </a:r>
            <a:endParaRPr lang="en-US" sz="2400" dirty="0"/>
          </a:p>
        </p:txBody>
      </p:sp>
      <p:sp>
        <p:nvSpPr>
          <p:cNvPr id="19" name="arrow"/>
          <p:cNvSpPr/>
          <p:nvPr/>
        </p:nvSpPr>
        <p:spPr>
          <a:xfrm>
            <a:off x="5897880" y="3127248"/>
            <a:ext cx="365760" cy="320040"/>
          </a:xfrm>
          <a:prstGeom prst="downArrow">
            <a:avLst/>
          </a:prstGeom>
          <a:solidFill>
            <a:srgbClr val="D96C6C"/>
          </a:solidFill>
          <a:ln w="12700">
            <a:solidFill>
              <a:srgbClr val="D96C6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80560" y="3520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</a:rPr>
              <a:t>116年 方案1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3520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60A14"/>
                </a:solidFill>
              </a:rPr>
              <a:t>116年 方案2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3794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</a:rPr>
              <a:t>85%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3794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60A14"/>
                </a:solidFill>
              </a:rPr>
              <a:t>85%</a:t>
            </a:r>
            <a:endParaRPr lang="en-US" sz="2600" dirty="0"/>
          </a:p>
        </p:txBody>
      </p:sp>
      <p:sp>
        <p:nvSpPr>
          <p:cNvPr id="24" name="divider"/>
          <p:cNvSpPr/>
          <p:nvPr/>
        </p:nvSpPr>
        <p:spPr>
          <a:xfrm>
            <a:off x="6080760" y="3566160"/>
            <a:ext cx="0" cy="777240"/>
          </a:xfrm>
          <a:prstGeom prst="line">
            <a:avLst/>
          </a:prstGeom>
          <a:noFill/>
          <a:ln w="12700">
            <a:solidFill>
              <a:srgbClr val="C5C5C5"/>
            </a:solidFill>
            <a:prstDash val="solid"/>
          </a:ln>
        </p:spPr>
      </p:sp>
      <p:sp>
        <p:nvSpPr>
          <p:cNvPr id="25" name="card 綜合指標佔比"/>
          <p:cNvSpPr/>
          <p:nvPr/>
        </p:nvSpPr>
        <p:spPr>
          <a:xfrm>
            <a:off x="8138160" y="1783080"/>
            <a:ext cx="3566160" cy="274320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21040" y="1874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綜合指標佔比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7F7F"/>
                </a:solidFill>
              </a:rPr>
              <a:t>115年（現行）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F7F7F"/>
                </a:solidFill>
              </a:rPr>
              <a:t>5%</a:t>
            </a:r>
            <a:endParaRPr lang="en-US" sz="2400" dirty="0"/>
          </a:p>
        </p:txBody>
      </p:sp>
      <p:sp>
        <p:nvSpPr>
          <p:cNvPr id="29" name="arrow"/>
          <p:cNvSpPr/>
          <p:nvPr/>
        </p:nvSpPr>
        <p:spPr>
          <a:xfrm>
            <a:off x="9738360" y="3127248"/>
            <a:ext cx="365760" cy="320040"/>
          </a:xfrm>
          <a:prstGeom prst="downArrow">
            <a:avLst/>
          </a:prstGeom>
          <a:solidFill>
            <a:srgbClr val="D96C6C"/>
          </a:solidFill>
          <a:ln w="12700">
            <a:solidFill>
              <a:srgbClr val="D96C6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21040" y="3520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</a:rPr>
              <a:t>116年 方案1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966960" y="3520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60A14"/>
                </a:solidFill>
              </a:rPr>
              <a:t>116年 方案2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3794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</a:rPr>
              <a:t>15%</a:t>
            </a:r>
            <a:endParaRPr lang="en-US" sz="2600" dirty="0"/>
          </a:p>
        </p:txBody>
      </p:sp>
      <p:sp>
        <p:nvSpPr>
          <p:cNvPr id="33" name="Text 31"/>
          <p:cNvSpPr txBox="1"/>
          <p:nvPr/>
        </p:nvSpPr>
        <p:spPr>
          <a:xfrm>
            <a:off x="9966960" y="3794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60A14"/>
                </a:solidFill>
              </a:rPr>
              <a:t>15%</a:t>
            </a:r>
            <a:endParaRPr lang="en-US" sz="2600" dirty="0"/>
          </a:p>
        </p:txBody>
      </p:sp>
      <p:sp>
        <p:nvSpPr>
          <p:cNvPr id="34" name="divider"/>
          <p:cNvSpPr/>
          <p:nvPr/>
        </p:nvSpPr>
        <p:spPr>
          <a:xfrm>
            <a:off x="9921240" y="3566160"/>
            <a:ext cx="0" cy="777240"/>
          </a:xfrm>
          <a:prstGeom prst="line">
            <a:avLst/>
          </a:prstGeom>
          <a:noFill/>
          <a:ln w="12700">
            <a:solidFill>
              <a:srgbClr val="C5C5C5"/>
            </a:solidFill>
            <a:prstDash val="solid"/>
          </a:ln>
        </p:spPr>
      </p:sp>
      <p:sp>
        <p:nvSpPr>
          <p:cNvPr id="35" name="summary box"/>
          <p:cNvSpPr/>
          <p:nvPr/>
        </p:nvSpPr>
        <p:spPr>
          <a:xfrm>
            <a:off x="457200" y="4800600"/>
            <a:ext cx="11274552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6" name="chip 重　點"/>
          <p:cNvSpPr txBox="1"/>
          <p:nvPr/>
        </p:nvSpPr>
        <p:spPr>
          <a:xfrm>
            <a:off x="594360" y="516636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重　點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920240" y="4846320"/>
            <a:ext cx="969264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00000"/>
                </a:solidFill>
              </a:rPr>
              <a:t>方案1：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基礎較高（140億），成長目標分6級，達成率120%以上即以預估實績折減（70%～90%）。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960A14"/>
                </a:solidFill>
              </a:rPr>
              <a:t>方案2：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基礎130億，成長目標簡化為4級，高達成率分行以「分行目標」為基準，未達80%者以目標之80%再成長20%。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144768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7F7F"/>
                </a:solidFill>
              </a:rPr>
              <a:t>※ 計算基礎金額待財務會計部定案（預計11月初向首長報告）；呈報時先聚焦制度與邏輯規則，或以115年目標118億 × 115% ≈ 135.7億推算，暫不鎖定總額。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成長目標規則比較（115年 vs 116年兩方案）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657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03120"/>
              </a:tblGrid>
              <a:tr h="411480"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115年（現行）佔95%</a:t>
                      </a:r>
                      <a:endParaRPr lang="en-US" sz="15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依114年年化達成率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115年成長目標（公式）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200%以上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114年預估實績 × 70%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150%～200%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114年預估實績 × 80%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130%～150%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114年預估實績 × 90%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120%～130%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114年預估實績 × 101%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110%～120%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114年預估實績 × 103%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100%～110%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114年預估實績 × 105%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90%～100%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114年分行目標 × 105%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75%～90%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114年分行目標 × 110%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未達75%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114年分行目標 × 115%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70248" y="1188720"/>
          <a:ext cx="3657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03120"/>
              </a:tblGrid>
              <a:tr h="411480"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116年 方案1　佔85%</a:t>
                      </a:r>
                      <a:endParaRPr lang="en-US" sz="15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依115年年化達成率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116年成長目標（公式）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180%以上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115年預估實績 × 70%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150%～180%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115年預估實績 × 80%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120%～150%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115年預估實績 × 90%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100%～120%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115年預估實績 × 101%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80%～100%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115年預估實績 × 102%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未達80%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115年預估實績 × 103%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74152" y="1188720"/>
          <a:ext cx="3657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03120"/>
              </a:tblGrid>
              <a:tr h="411480"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116年 方案2　佔85%</a:t>
                      </a:r>
                      <a:endParaRPr lang="en-US" sz="15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  <a:tc hMerge="1"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依115年年化達成率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116年成長目標（公式）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120%以上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維持115年目標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（公式：分行目標 × 120%）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100%～120%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115年預估實績 × 101%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80%～100%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115年預估實績 × 103%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未達80%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115年分行目標 × 80% × 120%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</a:tbl>
          </a:graphicData>
        </a:graphic>
      </p:graphicFrame>
      <p:sp>
        <p:nvSpPr>
          <p:cNvPr id="6" name="notes panel"/>
          <p:cNvSpPr/>
          <p:nvPr/>
        </p:nvSpPr>
        <p:spPr>
          <a:xfrm>
            <a:off x="457200" y="5029200"/>
            <a:ext cx="11274552" cy="118872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7" name="chip 特別考量差異"/>
          <p:cNvSpPr txBox="1"/>
          <p:nvPr/>
        </p:nvSpPr>
        <p:spPr>
          <a:xfrm>
            <a:off x="594360" y="5138928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960A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特別考量差異</a:t>
            </a:r>
            <a:endParaRPr lang="en-US" sz="1600" dirty="0"/>
          </a:p>
        </p:txBody>
      </p:sp>
      <p:sp>
        <p:nvSpPr>
          <p:cNvPr id="8" name="Text 3"/>
          <p:cNvSpPr txBox="1"/>
          <p:nvPr/>
        </p:nvSpPr>
        <p:spPr>
          <a:xfrm>
            <a:off x="2377440" y="5047488"/>
            <a:ext cx="923544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7F7F"/>
                </a:solidFill>
              </a:rPr>
              <a:t>115年：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達成率130%以上為績優分行，以預估實績折減（表中淺紅底三列）；未達100%者以「分行目標」為基準加成。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</a:rPr>
              <a:t>方案1：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級距由9級簡化為6級；折扣門檻由130%降至120%、最高折扣門檻由200%降至180%；全級距以「預估實績」為基準，未達100%者僅成長2%～3%。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960A14"/>
                </a:solidFill>
              </a:rPr>
              <a:t>方案2：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級距簡化為4級；120%以上「維持115年目標」、未達80%以「分行目標×80%×120%」計算。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</a:rPr>
              <a:t>三者共同：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近三年成立分行另定、依個別分行特殊狀況增減、預估實績採1-10月年化、分行目標為年末調整後目標。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綜合指標訂定規則比較（115年 vs 116年兩方案）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00400"/>
                <a:gridCol w="3200400"/>
                <a:gridCol w="295351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項目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115年（現行）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116年 方案1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116年 方案2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綜合指標佔比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F7F7F"/>
                          </a:solidFill>
                        </a:rPr>
                        <a:t>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15%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（文件小標註記7%，待確認）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60A14"/>
                          </a:solidFill>
                        </a:rPr>
                        <a:t>15%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平均手續費收入指標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最近3年（112、113、114年1-10月年化）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權重 30%，× 0.02968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前2年（113年及114年）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權重 20%，× 0.06582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同方案1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權重 20%，× 0.06582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存款指標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114年1-10月加權月平均餘額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權重 25%，× 0.00015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114年1-10月加權月平均餘額（依文件）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權重 25%，× 0.00054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同方案1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權重 25%，× 0.00054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投資類AUM指標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（基金＋保險＋外國債）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114年1-10月加權月平均餘額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權重 20%，× 0.00030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115年1-10月加權月平均餘額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權重 25%，× 0.00124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同方案1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權重 25%，× 0.00124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人數指標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114年1-10月月底平均人數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權重 22%，× 25,259元／人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115年1-10月月底平均人數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權重 25%，× 109,768元／人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同方案1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權重 25%，× 109,768元／人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組別指標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依114年組別，權重 3%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第1組18萬元 ～ 第8組4萬元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依115年組別，權重 5%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第1組111萬元 ～ 第8組20萬元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同方案1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權重 5%，111萬元 ～ 20萬元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7150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</a:rPr>
              <a:t>※ 方案1與方案2之綜合指標佔比（15%）及五項指標規則（指標期間、權重、係數、組別分配數）完全相同。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96188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※ 116年兩方案文件之【註2】【註4】【註6】仍沿用115年文字（係數0.00015／0.00030／25,259、分母以114年資料計），與正文係數不一致，待確認更新。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指標權重調整整理：115年 → 116年</a:t>
            </a:r>
            <a:endParaRPr lang="en-US" sz="3000" dirty="0"/>
          </a:p>
        </p:txBody>
      </p:sp>
      <p:sp>
        <p:nvSpPr>
          <p:cNvPr id="3" name="chip 整體架構"/>
          <p:cNvSpPr txBox="1"/>
          <p:nvPr/>
        </p:nvSpPr>
        <p:spPr>
          <a:xfrm>
            <a:off x="457200" y="114300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整體架構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1097280"/>
            <a:ext cx="96926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綜合指標佔比由 </a:t>
            </a:r>
            <a:pPr indent="0" marL="0">
              <a:buNone/>
            </a:pPr>
            <a:r>
              <a:rPr lang="en-US" sz="1500" b="1" dirty="0">
                <a:solidFill>
                  <a:srgbClr val="7F7F7F"/>
                </a:solidFill>
              </a:rPr>
              <a:t>5%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 提高至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15%（方案1、方案2相同）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，成長目標佔比相對由 95% 降至 85%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7F7F"/>
                </a:solidFill>
              </a:rPr>
              <a:t>115年（現行）</a:t>
            </a:r>
            <a:endParaRPr lang="en-US" sz="1200" dirty="0"/>
          </a:p>
        </p:txBody>
      </p:sp>
      <p:sp>
        <p:nvSpPr>
          <p:cNvPr id="6" name="bar growth 115年（現行）"/>
          <p:cNvSpPr txBox="1"/>
          <p:nvPr/>
        </p:nvSpPr>
        <p:spPr>
          <a:xfrm>
            <a:off x="2103120" y="1783080"/>
            <a:ext cx="9034272" cy="347472"/>
          </a:xfrm>
          <a:prstGeom prst="rect">
            <a:avLst/>
          </a:prstGeom>
          <a:solidFill>
            <a:srgbClr val="C5C5C5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成長目標 95%</a:t>
            </a:r>
            <a:endParaRPr lang="en-US" sz="1200" dirty="0"/>
          </a:p>
        </p:txBody>
      </p:sp>
      <p:sp>
        <p:nvSpPr>
          <p:cNvPr id="7" name="bar composite 115年（現行）"/>
          <p:cNvSpPr txBox="1"/>
          <p:nvPr/>
        </p:nvSpPr>
        <p:spPr>
          <a:xfrm>
            <a:off x="11137392" y="1783080"/>
            <a:ext cx="475488" cy="347472"/>
          </a:xfrm>
          <a:prstGeom prst="rect">
            <a:avLst/>
          </a:prstGeom>
          <a:solidFill>
            <a:srgbClr val="7F7F7F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綜合 5%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</a:rPr>
              <a:t>116年 方案1</a:t>
            </a:r>
            <a:endParaRPr lang="en-US" sz="1200" dirty="0"/>
          </a:p>
        </p:txBody>
      </p:sp>
      <p:sp>
        <p:nvSpPr>
          <p:cNvPr id="9" name="bar growth 116年 方案1"/>
          <p:cNvSpPr txBox="1"/>
          <p:nvPr/>
        </p:nvSpPr>
        <p:spPr>
          <a:xfrm>
            <a:off x="2103120" y="2240280"/>
            <a:ext cx="8083296" cy="347472"/>
          </a:xfrm>
          <a:prstGeom prst="rect">
            <a:avLst/>
          </a:prstGeom>
          <a:solidFill>
            <a:srgbClr val="C5C5C5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成長目標 85%</a:t>
            </a:r>
            <a:endParaRPr lang="en-US" sz="1200" dirty="0"/>
          </a:p>
        </p:txBody>
      </p:sp>
      <p:sp>
        <p:nvSpPr>
          <p:cNvPr id="10" name="bar composite 116年 方案1"/>
          <p:cNvSpPr txBox="1"/>
          <p:nvPr/>
        </p:nvSpPr>
        <p:spPr>
          <a:xfrm>
            <a:off x="10186416" y="2240280"/>
            <a:ext cx="1426464" cy="347472"/>
          </a:xfrm>
          <a:prstGeom prst="rect">
            <a:avLst/>
          </a:prstGeom>
          <a:solidFill>
            <a:srgbClr val="C00000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綜合 15%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6974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60A14"/>
                </a:solidFill>
              </a:rPr>
              <a:t>116年 方案2</a:t>
            </a:r>
            <a:endParaRPr lang="en-US" sz="1200" dirty="0"/>
          </a:p>
        </p:txBody>
      </p:sp>
      <p:sp>
        <p:nvSpPr>
          <p:cNvPr id="12" name="bar growth 116年 方案2"/>
          <p:cNvSpPr txBox="1"/>
          <p:nvPr/>
        </p:nvSpPr>
        <p:spPr>
          <a:xfrm>
            <a:off x="2103120" y="2697480"/>
            <a:ext cx="8083296" cy="347472"/>
          </a:xfrm>
          <a:prstGeom prst="rect">
            <a:avLst/>
          </a:prstGeom>
          <a:solidFill>
            <a:srgbClr val="C5C5C5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成長目標 85%</a:t>
            </a:r>
            <a:endParaRPr lang="en-US" sz="1200" dirty="0"/>
          </a:p>
        </p:txBody>
      </p:sp>
      <p:sp>
        <p:nvSpPr>
          <p:cNvPr id="13" name="bar composite 116年 方案2"/>
          <p:cNvSpPr txBox="1"/>
          <p:nvPr/>
        </p:nvSpPr>
        <p:spPr>
          <a:xfrm>
            <a:off x="10186416" y="2697480"/>
            <a:ext cx="1426464" cy="347472"/>
          </a:xfrm>
          <a:prstGeom prst="rect">
            <a:avLst/>
          </a:prstGeom>
          <a:solidFill>
            <a:srgbClr val="960A14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綜合 15%</a:t>
            </a:r>
            <a:endParaRPr lang="en-US" sz="1100" dirty="0"/>
          </a:p>
        </p:txBody>
      </p:sp>
      <p:sp>
        <p:nvSpPr>
          <p:cNvPr id="14" name="chip 綜合指標內部權重（方案1、方案2相同）"/>
          <p:cNvSpPr txBox="1"/>
          <p:nvPr/>
        </p:nvSpPr>
        <p:spPr>
          <a:xfrm>
            <a:off x="457200" y="329184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960A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綜合指標內部權重（方案1、方案2相同）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49040"/>
          <a:ext cx="51206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914400"/>
                <a:gridCol w="914400"/>
                <a:gridCol w="118872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指標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115年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116年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變動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平均手續費收入指標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20%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A9B6"/>
                          </a:solidFill>
                        </a:rPr>
                        <a:t>▼ -10%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存款指標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25%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F7F7F"/>
                          </a:solidFill>
                        </a:rPr>
                        <a:t>持平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投資類AUM指標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25%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▲ +5%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人數指標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22%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25%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▲ +3%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組別指標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5%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▲ +2%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合計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Chart 0" descr=""/>
          <p:cNvGraphicFramePr/>
          <p:nvPr/>
        </p:nvGraphicFramePr>
        <p:xfrm>
          <a:off x="5852160" y="3246120"/>
          <a:ext cx="58978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457200" y="596188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</a:rPr>
              <a:t>※ 係數同步調整：平均手收 0.02968→0.06582、存款 0.00015→0.00054、投資AUM 0.00030→0.00124、人數 25,259→109,768元／人、組別分配數 18～4萬→111～20萬元。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營業單位目標調整原則（三版本相同）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配合財務會計部調整年度盈餘目標時程，營業單位目標依下列 </a:t>
            </a:r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</a:rPr>
              <a:t>6 項原則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調整（116年僅將比較基期由114年改為115年1-10月）</a:t>
            </a:r>
            <a:endParaRPr lang="en-US" sz="1400" dirty="0"/>
          </a:p>
        </p:txBody>
      </p:sp>
      <p:sp>
        <p:nvSpPr>
          <p:cNvPr id="4" name="card 1"/>
          <p:cNvSpPr/>
          <p:nvPr/>
        </p:nvSpPr>
        <p:spPr>
          <a:xfrm>
            <a:off x="457200" y="1691640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5C5"/>
            </a:solidFill>
            <a:prstDash val="solid"/>
          </a:ln>
        </p:spPr>
      </p:sp>
      <p:sp>
        <p:nvSpPr>
          <p:cNvPr id="5" name="num 1"/>
          <p:cNvSpPr txBox="1"/>
          <p:nvPr/>
        </p:nvSpPr>
        <p:spPr>
          <a:xfrm>
            <a:off x="594360" y="1828800"/>
            <a:ext cx="411480" cy="411480"/>
          </a:xfrm>
          <a:prstGeom prst="ellipse">
            <a:avLst/>
          </a:prstGeom>
          <a:solidFill>
            <a:srgbClr val="960A14"/>
          </a:solidFill>
          <a:ln>
            <a:solidFill>
              <a:srgbClr val="960A1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013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國內自然人存款大幅流失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331720"/>
            <a:ext cx="3337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單一客戶存款餘額較1-10月月平均減少達5,000萬元以上，且營業單位合計減少達3億元以上 → 依存款指標方式調降目標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4297680" y="1691640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5C5"/>
            </a:solidFill>
            <a:prstDash val="solid"/>
          </a:ln>
        </p:spPr>
      </p:sp>
      <p:sp>
        <p:nvSpPr>
          <p:cNvPr id="9" name="num 2"/>
          <p:cNvSpPr txBox="1"/>
          <p:nvPr/>
        </p:nvSpPr>
        <p:spPr>
          <a:xfrm>
            <a:off x="4434840" y="1828800"/>
            <a:ext cx="411480" cy="411480"/>
          </a:xfrm>
          <a:prstGeom prst="ellipse">
            <a:avLst/>
          </a:prstGeom>
          <a:solidFill>
            <a:srgbClr val="960A14"/>
          </a:solidFill>
          <a:ln>
            <a:solidFill>
              <a:srgbClr val="960A1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8013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理財客戶投資餘額大幅減少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331720"/>
            <a:ext cx="3337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（不含貨幣型基金）單一客戶減少達1,000萬元以上，且營業單位合計減少達5,000萬元以上 → 依投資餘額指標方式調降目標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8138160" y="1691640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5C5"/>
            </a:solidFill>
            <a:prstDash val="solid"/>
          </a:ln>
        </p:spPr>
      </p:sp>
      <p:sp>
        <p:nvSpPr>
          <p:cNvPr id="13" name="num 3"/>
          <p:cNvSpPr txBox="1"/>
          <p:nvPr/>
        </p:nvSpPr>
        <p:spPr>
          <a:xfrm>
            <a:off x="8275320" y="1828800"/>
            <a:ext cx="411480" cy="411480"/>
          </a:xfrm>
          <a:prstGeom prst="ellipse">
            <a:avLst/>
          </a:prstGeom>
          <a:solidFill>
            <a:srgbClr val="960A14"/>
          </a:solidFill>
          <a:ln>
            <a:solidFill>
              <a:srgbClr val="960A1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778240" y="18013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跨分行移轉客戶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331720"/>
            <a:ext cx="3337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依目標訂定方式計算客戶目標影響數，以影響數之 8成 減少移出行目標、同時增加移入行目標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457200" y="3931920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5C5"/>
            </a:solidFill>
            <a:prstDash val="solid"/>
          </a:ln>
        </p:spPr>
      </p:sp>
      <p:sp>
        <p:nvSpPr>
          <p:cNvPr id="17" name="num 4"/>
          <p:cNvSpPr txBox="1"/>
          <p:nvPr/>
        </p:nvSpPr>
        <p:spPr>
          <a:xfrm>
            <a:off x="594360" y="4069080"/>
            <a:ext cx="411480" cy="411480"/>
          </a:xfrm>
          <a:prstGeom prst="ellipse">
            <a:avLst/>
          </a:prstGeom>
          <a:solidFill>
            <a:srgbClr val="960A14"/>
          </a:solidFill>
          <a:ln>
            <a:solidFill>
              <a:srgbClr val="960A1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0416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行舍搬遷／業務合併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4572000"/>
            <a:ext cx="3337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致理財及存款客戶流失，或其他足以影響分行財富管理業務目標達成之因素</a:t>
            </a:r>
            <a:endParaRPr lang="en-US" sz="1400" dirty="0"/>
          </a:p>
        </p:txBody>
      </p:sp>
      <p:sp>
        <p:nvSpPr>
          <p:cNvPr id="20" name="card 5"/>
          <p:cNvSpPr/>
          <p:nvPr/>
        </p:nvSpPr>
        <p:spPr>
          <a:xfrm>
            <a:off x="4297680" y="3931920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5C5"/>
            </a:solidFill>
            <a:prstDash val="solid"/>
          </a:ln>
        </p:spPr>
      </p:sp>
      <p:sp>
        <p:nvSpPr>
          <p:cNvPr id="21" name="num 5"/>
          <p:cNvSpPr txBox="1"/>
          <p:nvPr/>
        </p:nvSpPr>
        <p:spPr>
          <a:xfrm>
            <a:off x="4434840" y="4069080"/>
            <a:ext cx="411480" cy="411480"/>
          </a:xfrm>
          <a:prstGeom prst="ellipse">
            <a:avLst/>
          </a:prstGeom>
          <a:solidFill>
            <a:srgbClr val="960A14"/>
          </a:solidFill>
          <a:ln>
            <a:solidFill>
              <a:srgbClr val="960A1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40416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承作聯行客戶未移轉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434840" y="4572000"/>
            <a:ext cx="3337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承作專屬理專所屬行為聯行之客戶而未移轉，致影響聯行推展者 → 按影響數 100% 增加承作行目標、同時減少客戶所屬行目標</a:t>
            </a:r>
            <a:endParaRPr lang="en-US" sz="1400" dirty="0"/>
          </a:p>
        </p:txBody>
      </p:sp>
      <p:sp>
        <p:nvSpPr>
          <p:cNvPr id="24" name="card 6"/>
          <p:cNvSpPr/>
          <p:nvPr/>
        </p:nvSpPr>
        <p:spPr>
          <a:xfrm>
            <a:off x="8138160" y="3931920"/>
            <a:ext cx="36118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5C5"/>
            </a:solidFill>
            <a:prstDash val="solid"/>
          </a:ln>
        </p:spPr>
      </p:sp>
      <p:sp>
        <p:nvSpPr>
          <p:cNvPr id="25" name="num 6"/>
          <p:cNvSpPr txBox="1"/>
          <p:nvPr/>
        </p:nvSpPr>
        <p:spPr>
          <a:xfrm>
            <a:off x="8275320" y="4069080"/>
            <a:ext cx="411480" cy="411480"/>
          </a:xfrm>
          <a:prstGeom prst="ellipse">
            <a:avLst/>
          </a:prstGeom>
          <a:solidFill>
            <a:srgbClr val="960A14"/>
          </a:solidFill>
          <a:ln>
            <a:solidFill>
              <a:srgbClr val="960A1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778240" y="40416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理財人員請長假／異動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4572000"/>
            <a:ext cx="3337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門檻：近6個月自銷業績占分行業績達5成以上；以近6個月自銷月均（扣除遞補理專差額）× 6個月影響數之 3成 調整目標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附錄：116年方案文件待確認事項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整理比較時發現 116 年兩方案文件有下列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文字／數字不一致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 之處，建議定稿前確認：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455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377440"/>
                <a:gridCol w="4206240"/>
                <a:gridCol w="423367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位置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文件內容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疑點／建議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方案1 第2.(2)點小標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「營業單位綜合指標之目標（佔7%）」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前文與方案架構為 15%；7% 疑為舊版殘留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方案2 成長目標表 第1列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「120%以上：維持115年目標」，公式欄為「分行目標×120%」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文字（維持）與公式（×120%）矛盾，請確認何者正確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兩方案 存款指標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計算期間仍為「114年1至10月」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其餘指標已改為115年1-10月，存款指標疑漏改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兩方案【註2】【註4】【註6】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係數仍寫 0.00015／0.00030／25,259，分母為114年資料、分配數29.5億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與正文新係數（0.00054／0.00124／109,768）不符，註釋未同步更新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兩方案 第2點前言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「115年度…目標為『116年成長目標』…」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年度應為 116年度（文字誤植）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兩方案 平均手收指標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「前2年（113年及114年）」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116年目標理應採 114年及115年（1-10月年化），請確認基期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116年目標訂定規則調整方向（10/20會議結論）</a:t>
            </a:r>
            <a:endParaRPr lang="en-US" sz="3000" dirty="0"/>
          </a:p>
        </p:txBody>
      </p:sp>
      <p:sp>
        <p:nvSpPr>
          <p:cNvPr id="3" name="card 權重結構調整"/>
          <p:cNvSpPr/>
          <p:nvPr/>
        </p:nvSpPr>
        <p:spPr>
          <a:xfrm>
            <a:off x="457200" y="1143000"/>
            <a:ext cx="5559552" cy="16916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4" name="num 1"/>
          <p:cNvSpPr txBox="1"/>
          <p:nvPr/>
        </p:nvSpPr>
        <p:spPr>
          <a:xfrm>
            <a:off x="594360" y="1280160"/>
            <a:ext cx="411480" cy="411480"/>
          </a:xfrm>
          <a:prstGeom prst="ellipse">
            <a:avLst/>
          </a:prstGeom>
          <a:solidFill>
            <a:srgbClr val="960A14"/>
          </a:solidFill>
          <a:ln>
            <a:solidFill>
              <a:srgbClr val="960A1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52728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0000"/>
                </a:solidFill>
              </a:rPr>
              <a:t>權重結構調整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737360"/>
            <a:ext cx="4782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000000"/>
                </a:solidFill>
              </a:rPr>
              <a:t>成長目標 </a:t>
            </a:r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C00000"/>
                </a:solidFill>
              </a:rPr>
              <a:t>95% → 85%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000000"/>
                </a:solidFill>
              </a:rPr>
              <a:t>綜合指標 </a:t>
            </a:r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C00000"/>
                </a:solidFill>
              </a:rPr>
              <a:t>5% → 15%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7F7F7F"/>
                </a:solidFill>
              </a:rPr>
              <a:t>著重客群經營與人力資源等綜合績效</a:t>
            </a:r>
            <a:endParaRPr lang="en-US" sz="1350" dirty="0"/>
          </a:p>
        </p:txBody>
      </p:sp>
      <p:sp>
        <p:nvSpPr>
          <p:cNvPr id="7" name="card 級距簡化"/>
          <p:cNvSpPr/>
          <p:nvPr/>
        </p:nvSpPr>
        <p:spPr>
          <a:xfrm>
            <a:off x="6172200" y="1143000"/>
            <a:ext cx="5559552" cy="16916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8" name="num 2"/>
          <p:cNvSpPr txBox="1"/>
          <p:nvPr/>
        </p:nvSpPr>
        <p:spPr>
          <a:xfrm>
            <a:off x="6309360" y="1280160"/>
            <a:ext cx="411480" cy="411480"/>
          </a:xfrm>
          <a:prstGeom prst="ellipse">
            <a:avLst/>
          </a:prstGeom>
          <a:solidFill>
            <a:srgbClr val="960A14"/>
          </a:solidFill>
          <a:ln>
            <a:solidFill>
              <a:srgbClr val="960A1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12280" y="1252728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0000"/>
                </a:solidFill>
              </a:rPr>
              <a:t>級距簡化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812280" y="1737360"/>
            <a:ext cx="4782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000000"/>
                </a:solidFill>
              </a:rPr>
              <a:t>成長目標級距由 </a:t>
            </a:r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C00000"/>
                </a:solidFill>
              </a:rPr>
              <a:t>9級簡化為6級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000000"/>
                </a:solidFill>
              </a:rPr>
              <a:t>（115年含績優分行共9級）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7F7F7F"/>
                </a:solidFill>
              </a:rPr>
              <a:t>使營業單位對照目標更直觀</a:t>
            </a:r>
            <a:endParaRPr lang="en-US" sz="1350" dirty="0"/>
          </a:p>
        </p:txBody>
      </p:sp>
      <p:sp>
        <p:nvSpPr>
          <p:cNvPr id="11" name="card 天花板機制"/>
          <p:cNvSpPr/>
          <p:nvPr/>
        </p:nvSpPr>
        <p:spPr>
          <a:xfrm>
            <a:off x="457200" y="2971800"/>
            <a:ext cx="5559552" cy="16916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2" name="num 3"/>
          <p:cNvSpPr txBox="1"/>
          <p:nvPr/>
        </p:nvSpPr>
        <p:spPr>
          <a:xfrm>
            <a:off x="594360" y="3108960"/>
            <a:ext cx="411480" cy="411480"/>
          </a:xfrm>
          <a:prstGeom prst="ellipse">
            <a:avLst/>
          </a:prstGeom>
          <a:solidFill>
            <a:srgbClr val="960A14"/>
          </a:solidFill>
          <a:ln>
            <a:solidFill>
              <a:srgbClr val="960A1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081528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0000"/>
                </a:solidFill>
              </a:rPr>
              <a:t>天花板機制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566160"/>
            <a:ext cx="4782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000000"/>
                </a:solidFill>
              </a:rPr>
              <a:t>對象：超達標分行（達成率 </a:t>
            </a:r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C00000"/>
                </a:solidFill>
              </a:rPr>
              <a:t>120% 或 130% 以上</a:t>
            </a:r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000000"/>
                </a:solidFill>
              </a:rPr>
              <a:t>）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000000"/>
                </a:solidFill>
              </a:rPr>
              <a:t>設定目標成長上限，或排除超額部分不納入次年基期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7F7F7F"/>
                </a:solidFill>
              </a:rPr>
              <a:t>避免績優分行次年目標被無限墊高</a:t>
            </a:r>
            <a:endParaRPr lang="en-US" sz="1350" dirty="0"/>
          </a:p>
        </p:txBody>
      </p:sp>
      <p:sp>
        <p:nvSpPr>
          <p:cNvPr id="15" name="card 地板機制"/>
          <p:cNvSpPr/>
          <p:nvPr/>
        </p:nvSpPr>
        <p:spPr>
          <a:xfrm>
            <a:off x="6172200" y="2971800"/>
            <a:ext cx="5559552" cy="169164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6" name="num 4"/>
          <p:cNvSpPr txBox="1"/>
          <p:nvPr/>
        </p:nvSpPr>
        <p:spPr>
          <a:xfrm>
            <a:off x="6309360" y="3108960"/>
            <a:ext cx="411480" cy="411480"/>
          </a:xfrm>
          <a:prstGeom prst="ellipse">
            <a:avLst/>
          </a:prstGeom>
          <a:solidFill>
            <a:srgbClr val="960A14"/>
          </a:solidFill>
          <a:ln>
            <a:solidFill>
              <a:srgbClr val="960A1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3081528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0000"/>
                </a:solidFill>
              </a:rPr>
              <a:t>地板機制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3566160"/>
            <a:ext cx="4782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000000"/>
                </a:solidFill>
              </a:rPr>
              <a:t>對象：落後分行（達成率 </a:t>
            </a:r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C00000"/>
                </a:solidFill>
              </a:rPr>
              <a:t>未達 75%</a:t>
            </a:r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000000"/>
                </a:solidFill>
              </a:rPr>
              <a:t>）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000000"/>
                </a:solidFill>
              </a:rPr>
              <a:t>以分行目標一定折扣（如 </a:t>
            </a:r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C00000"/>
                </a:solidFill>
              </a:rPr>
              <a:t>八折</a:t>
            </a:r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000000"/>
                </a:solidFill>
              </a:rPr>
              <a:t>）作為起算基準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7F7F7F"/>
                </a:solidFill>
              </a:rPr>
              <a:t>設定合理成長地板，同時保留改善空間</a:t>
            </a:r>
            <a:endParaRPr lang="en-US" sz="1350" dirty="0"/>
          </a:p>
        </p:txBody>
      </p:sp>
      <p:sp>
        <p:nvSpPr>
          <p:cNvPr id="19" name="wording box"/>
          <p:cNvSpPr/>
          <p:nvPr/>
        </p:nvSpPr>
        <p:spPr>
          <a:xfrm>
            <a:off x="457200" y="4846320"/>
            <a:ext cx="11274552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0" name="chip 呈現原則"/>
          <p:cNvSpPr txBox="1"/>
          <p:nvPr/>
        </p:nvSpPr>
        <p:spPr>
          <a:xfrm>
            <a:off x="594360" y="5193792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呈現原則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4892040"/>
            <a:ext cx="960120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00000"/>
                </a:solidFill>
              </a:rPr>
              <a:t>文字：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</a:rPr>
              <a:t>條款與說明改為對營業單位具吸引力且直觀的用語（強調「優化」「打折優惠」「上限豁免」），避免被解讀為懲罰或被加目標。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00000"/>
                </a:solidFill>
              </a:rPr>
              <a:t>通路意見：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</a:rPr>
              <a:t>納入中區（建議調整綜合指標權重）與北二區（建議達成率120%以上不納入次年基期）意見，於報告中一併說明與回應。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待辦事項與呈報策略（10/20會議）</a:t>
            </a:r>
            <a:endParaRPr lang="en-US" sz="3000" dirty="0"/>
          </a:p>
        </p:txBody>
      </p:sp>
      <p:sp>
        <p:nvSpPr>
          <p:cNvPr id="3" name="chip 數據補齊與試算"/>
          <p:cNvSpPr txBox="1"/>
          <p:nvPr/>
        </p:nvSpPr>
        <p:spPr>
          <a:xfrm>
            <a:off x="457200" y="114300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數據補齊與試算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68580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737360"/>
                <a:gridCol w="4709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項目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內容</a:t>
                      </a:r>
                      <a:endParaRPr lang="en-US" sz="14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分行實績與達成率驗證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拉出114、115年度分行實績，重點檢視採「目標加成」之分行（約30家）實際達成情形，作為向總經理說明調整規則之數據依據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地板機制影響試算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驗證達成率未達75%分行之實際狀況，試算設定地板後對整體數字之影響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天花板折扣情境試算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試算不同折扣級距（如150%以上打六折／七折等）對優良分行及整體目標之影響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總體目標區間試算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試算營業單位總體預估數字（124億～140億區間）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獎勵方案重新試算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針對獎勵規則與發放金額重新試算，於後續會議（明後天）深入討論細節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hip 呈報總經理策略"/>
          <p:cNvSpPr txBox="1"/>
          <p:nvPr/>
        </p:nvSpPr>
        <p:spPr>
          <a:xfrm>
            <a:off x="7589520" y="114300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960A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呈報總經理策略</a:t>
            </a:r>
            <a:endParaRPr lang="en-US" sz="1600" dirty="0"/>
          </a:p>
        </p:txBody>
      </p:sp>
      <p:sp>
        <p:nvSpPr>
          <p:cNvPr id="6" name="strategy panel"/>
          <p:cNvSpPr/>
          <p:nvPr/>
        </p:nvSpPr>
        <p:spPr>
          <a:xfrm>
            <a:off x="7589520" y="1600200"/>
            <a:ext cx="4142232" cy="452628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26680" y="1691640"/>
            <a:ext cx="3886200" cy="4343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00000"/>
                </a:solidFill>
              </a:rPr>
              <a:t>前提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財務會計部年度目標總額尚未定案，預計11月初向首長報告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00000"/>
                </a:solidFill>
              </a:rPr>
              <a:t>報告重點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優先聚焦「制度與邏輯規則」，暫不鎖定具體總額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或以今年度目標加計成長率（如15%）推算：118億 × 115% ≈ 135.7億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00000"/>
                </a:solidFill>
              </a:rPr>
              <a:t>報告內容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權重 85／15、級距 9→6、天花板與地板機制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以114、115年實績數據佐證規則調整之合理性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回應中區、北二區通路意見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116年激勵方案 vs 115年獎勵：費用總覽</a:t>
            </a:r>
            <a:endParaRPr lang="en-US" sz="3000" dirty="0"/>
          </a:p>
        </p:txBody>
      </p:sp>
      <p:sp>
        <p:nvSpPr>
          <p:cNvPr id="3" name="chip 比較基礎"/>
          <p:cNvSpPr txBox="1"/>
          <p:nvPr/>
        </p:nvSpPr>
        <p:spPr>
          <a:xfrm>
            <a:off x="457200" y="114300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比較基礎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1097280"/>
            <a:ext cx="96926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116年分行目標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140億元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（115年為118億元）；116年預估費用分別以達成 </a:t>
            </a:r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125億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 及 </a:t>
            </a:r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140億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 兩情境試算</a:t>
            </a:r>
            <a:endParaRPr lang="en-US" sz="1500" dirty="0"/>
          </a:p>
        </p:txBody>
      </p:sp>
      <p:sp>
        <p:nvSpPr>
          <p:cNvPr id="5" name="card 合計獎勵費用"/>
          <p:cNvSpPr/>
          <p:nvPr/>
        </p:nvSpPr>
        <p:spPr>
          <a:xfrm>
            <a:off x="457200" y="1737360"/>
            <a:ext cx="2286000" cy="434340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合計獎勵費用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7F7F"/>
                </a:solidFill>
              </a:rPr>
              <a:t>115年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560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7F7F"/>
                </a:solidFill>
              </a:rPr>
              <a:t>49,451 萬元</a:t>
            </a:r>
            <a:endParaRPr lang="en-US" sz="2000" dirty="0"/>
          </a:p>
        </p:txBody>
      </p:sp>
      <p:sp>
        <p:nvSpPr>
          <p:cNvPr id="9" name="arrow"/>
          <p:cNvSpPr/>
          <p:nvPr/>
        </p:nvSpPr>
        <p:spPr>
          <a:xfrm>
            <a:off x="1417320" y="3108960"/>
            <a:ext cx="365760" cy="320040"/>
          </a:xfrm>
          <a:prstGeom prst="downArrow">
            <a:avLst/>
          </a:prstGeom>
          <a:solidFill>
            <a:srgbClr val="D96C6C"/>
          </a:solidFill>
          <a:ln w="12700">
            <a:solidFill>
              <a:srgbClr val="D96C6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</a:rPr>
              <a:t>116年 達125億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794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</a:rPr>
              <a:t>49,113 萬元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F7F7F"/>
                </a:solidFill>
              </a:rPr>
              <a:t>較115年 -338萬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572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60A14"/>
                </a:solidFill>
              </a:rPr>
              <a:t>116年 達140億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846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60A14"/>
                </a:solidFill>
              </a:rPr>
              <a:t>62,432 萬元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F7F7F"/>
                </a:solidFill>
              </a:rPr>
              <a:t>較115年 +12,981萬</a:t>
            </a:r>
            <a:endParaRPr lang="en-US" sz="2000" dirty="0"/>
          </a:p>
        </p:txBody>
      </p:sp>
      <p:sp>
        <p:nvSpPr>
          <p:cNvPr id="14" name="card 獎金率（費用÷目標）"/>
          <p:cNvSpPr/>
          <p:nvPr/>
        </p:nvSpPr>
        <p:spPr>
          <a:xfrm>
            <a:off x="2880360" y="1737360"/>
            <a:ext cx="2286000" cy="434340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17520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獎金率（費用÷目標）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7F7F"/>
                </a:solidFill>
              </a:rPr>
              <a:t>115年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2560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7F7F"/>
                </a:solidFill>
              </a:rPr>
              <a:t>3.96%</a:t>
            </a:r>
            <a:endParaRPr lang="en-US" sz="2000" dirty="0"/>
          </a:p>
        </p:txBody>
      </p:sp>
      <p:sp>
        <p:nvSpPr>
          <p:cNvPr id="18" name="arrow"/>
          <p:cNvSpPr/>
          <p:nvPr/>
        </p:nvSpPr>
        <p:spPr>
          <a:xfrm>
            <a:off x="3840480" y="3108960"/>
            <a:ext cx="365760" cy="320040"/>
          </a:xfrm>
          <a:prstGeom prst="downArrow">
            <a:avLst/>
          </a:prstGeom>
          <a:solidFill>
            <a:srgbClr val="D96C6C"/>
          </a:solidFill>
          <a:ln w="12700">
            <a:solidFill>
              <a:srgbClr val="D96C6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01752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</a:rPr>
              <a:t>116年 達125億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3794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</a:rPr>
              <a:t>3.93%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F7F7F"/>
                </a:solidFill>
              </a:rPr>
              <a:t>較115年 -0.03pp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4572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60A14"/>
                </a:solidFill>
              </a:rPr>
              <a:t>116年 達140億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4846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60A14"/>
                </a:solidFill>
              </a:rPr>
              <a:t>4.46%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F7F7F"/>
                </a:solidFill>
              </a:rPr>
              <a:t>較115年 +0.50pp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1737360"/>
          <a:ext cx="64008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777240"/>
                <a:gridCol w="731520"/>
                <a:gridCol w="868680"/>
                <a:gridCol w="731520"/>
                <a:gridCol w="868680"/>
                <a:gridCol w="731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獎勵項目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發放方式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115年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116年 達125億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較115年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116年 達140億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較115年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0A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大財管－每季達標獎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業務宣導費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20,425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</a:rPr>
                        <a:t>19,560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A9B6"/>
                          </a:solidFill>
                        </a:rPr>
                        <a:t>-865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60A14"/>
                          </a:solidFill>
                        </a:rPr>
                        <a:t>23,866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</a:rPr>
                        <a:t>+3,441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大財管－年度卓越獎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業務宣導費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1,983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A9B6"/>
                          </a:solidFill>
                        </a:rPr>
                        <a:t>-1,983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60A14"/>
                          </a:solidFill>
                        </a:rPr>
                        <a:t>1,436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A9B6"/>
                          </a:solidFill>
                        </a:rPr>
                        <a:t>-547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客群經營盈餘共享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業務宣導費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12,989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</a:rPr>
                        <a:t>17,199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</a:rPr>
                        <a:t>+4,210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60A14"/>
                          </a:solidFill>
                        </a:rPr>
                        <a:t>22,711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</a:rPr>
                        <a:t>+9,722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經理及理財主管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個人獎金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12,438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</a:rPr>
                        <a:t>10,598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A9B6"/>
                          </a:solidFill>
                        </a:rPr>
                        <a:t>-1,840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60A14"/>
                          </a:solidFill>
                        </a:rPr>
                        <a:t>12,663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</a:rPr>
                        <a:t>+225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績效理專（116年刪除）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個人獎金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1,280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A9B6"/>
                          </a:solidFill>
                        </a:rPr>
                        <a:t>-1,280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60A14"/>
                          </a:solidFill>
                        </a:rPr>
                        <a:t>0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A9B6"/>
                          </a:solidFill>
                        </a:rPr>
                        <a:t>-1,280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轉介同仁（116年新增）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個人獎金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</a:rPr>
                        <a:t>1,280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</a:rPr>
                        <a:t>+1,280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60A14"/>
                          </a:solidFill>
                        </a:rPr>
                        <a:t>1,280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</a:rPr>
                        <a:t>+1,280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通路中心經理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個人獎金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132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</a:rPr>
                        <a:t>132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F7F7F"/>
                          </a:solidFill>
                        </a:rPr>
                        <a:t>持平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60A14"/>
                          </a:solidFill>
                        </a:rPr>
                        <a:t>132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F7F7F"/>
                          </a:solidFill>
                        </a:rPr>
                        <a:t>持平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通路中心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業務宣導費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204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0000"/>
                          </a:solidFill>
                        </a:rPr>
                        <a:t>344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</a:rPr>
                        <a:t>+140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60A14"/>
                          </a:solidFill>
                        </a:rPr>
                        <a:t>344</a:t>
                      </a:r>
                      <a:endParaRPr lang="en-US" sz="115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</a:rPr>
                        <a:t>+140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合計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49,451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49,113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A9B6"/>
                          </a:solidFill>
                        </a:rPr>
                        <a:t>-338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60A14"/>
                          </a:solidFill>
                        </a:rPr>
                        <a:t>62,432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+12,981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457200" y="612648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7F7F"/>
                </a:solidFill>
              </a:rPr>
              <a:t>單位：萬元。獎金率＝合計獎勵費用 ÷ 分行目標（115年118億；116年分別以125億、140億計）。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營業單位大財管獎勵（一）：每季達標獎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依當季手續費收入達成率對應發放率核算業務宣導費（50%業務推展、50%獎勵同仁），再依手收規模乘以加權數</a:t>
            </a:r>
            <a:endParaRPr lang="en-US" sz="1400" dirty="0"/>
          </a:p>
        </p:txBody>
      </p:sp>
      <p:sp>
        <p:nvSpPr>
          <p:cNvPr id="4" name="col 115年（分行目標118億）"/>
          <p:cNvSpPr txBox="1"/>
          <p:nvPr/>
        </p:nvSpPr>
        <p:spPr>
          <a:xfrm>
            <a:off x="457200" y="1554480"/>
            <a:ext cx="5394960" cy="384048"/>
          </a:xfrm>
          <a:prstGeom prst="rect">
            <a:avLst/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115年（分行目標118億）</a:t>
            </a:r>
            <a:endParaRPr lang="en-US" sz="1500" dirty="0"/>
          </a:p>
        </p:txBody>
      </p:sp>
      <p:sp>
        <p:nvSpPr>
          <p:cNvPr id="5" name="col 116年（分行目標140億）"/>
          <p:cNvSpPr txBox="1"/>
          <p:nvPr/>
        </p:nvSpPr>
        <p:spPr>
          <a:xfrm>
            <a:off x="6336792" y="1554480"/>
            <a:ext cx="5394960" cy="384048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116年（分行目標140億）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3063240" cy="914400"/>
        </p:xfrm>
        <a:graphic>
          <a:graphicData uri="http://schemas.openxmlformats.org/drawingml/2006/table">
            <a:tbl>
              <a:tblPr/>
              <a:tblGrid>
                <a:gridCol w="1899209"/>
                <a:gridCol w="1164031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分行達成率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發放率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140%以上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1.8%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120%～140%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1.6%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100%～120%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1.4%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80%～100%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1.2%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60%～80%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1.0%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40%～60%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0.5%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1965960"/>
          <a:ext cx="2194560" cy="914400"/>
        </p:xfrm>
        <a:graphic>
          <a:graphicData uri="http://schemas.openxmlformats.org/drawingml/2006/table">
            <a:tbl>
              <a:tblPr/>
              <a:tblGrid>
                <a:gridCol w="1360627"/>
                <a:gridCol w="833933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財管手收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加權數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2,500萬以上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1.3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2,000～2,500萬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1.2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1,500～2,000萬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1.1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6792" y="1965960"/>
          <a:ext cx="3063240" cy="914400"/>
        </p:xfrm>
        <a:graphic>
          <a:graphicData uri="http://schemas.openxmlformats.org/drawingml/2006/table">
            <a:tbl>
              <a:tblPr/>
              <a:tblGrid>
                <a:gridCol w="1899209"/>
                <a:gridCol w="1164031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分行達成率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發放率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120%以上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1.8%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100%～120%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1.6%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80%～100%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1.4%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60%～80%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1.2%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40%～60%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0.7%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37192" y="1965960"/>
          <a:ext cx="2194560" cy="914400"/>
        </p:xfrm>
        <a:graphic>
          <a:graphicData uri="http://schemas.openxmlformats.org/drawingml/2006/table">
            <a:tbl>
              <a:tblPr/>
              <a:tblGrid>
                <a:gridCol w="1360627"/>
                <a:gridCol w="833933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財管手收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加權數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3,500萬以上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1.3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2,500～3,500萬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1.2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2,000～2,500萬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1.1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4"/>
          <p:cNvSpPr txBox="1"/>
          <p:nvPr/>
        </p:nvSpPr>
        <p:spPr>
          <a:xfrm>
            <a:off x="457200" y="4114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7F7F"/>
                </a:solidFill>
              </a:rPr>
              <a:t>預估費用：20,425萬元</a:t>
            </a:r>
            <a:endParaRPr lang="en-US" sz="1300" dirty="0"/>
          </a:p>
        </p:txBody>
      </p:sp>
      <p:sp>
        <p:nvSpPr>
          <p:cNvPr id="11" name="Text 5"/>
          <p:cNvSpPr txBox="1"/>
          <p:nvPr/>
        </p:nvSpPr>
        <p:spPr>
          <a:xfrm>
            <a:off x="6336792" y="4114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</a:rPr>
              <a:t>預估費用：達125億 19,560萬元／達140億 23,866萬元</a:t>
            </a:r>
            <a:endParaRPr lang="en-US" sz="1300" dirty="0"/>
          </a:p>
        </p:txBody>
      </p:sp>
      <p:sp>
        <p:nvSpPr>
          <p:cNvPr id="12" name="diff panel"/>
          <p:cNvSpPr/>
          <p:nvPr/>
        </p:nvSpPr>
        <p:spPr>
          <a:xfrm>
            <a:off x="457200" y="4526280"/>
            <a:ext cx="11274552" cy="160020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3" name="chip 差異摘要"/>
          <p:cNvSpPr txBox="1"/>
          <p:nvPr/>
        </p:nvSpPr>
        <p:spPr>
          <a:xfrm>
            <a:off x="594360" y="463600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960A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差異摘要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2103120" y="4572000"/>
            <a:ext cx="950976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達成率級距由6級簡化為5級，各級門檻下修20個百分點（最高級由140%改為120%）；同一達成率之發放率提高0.2%，最低級由0.5%提高至0.7%。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手收加權數門檻上調為3,500／2,500／2,000萬元（原2,500／2,000／1,500萬元），配合目標由118億提高至140億。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預估費用：達125億 19,560萬元，較115年減少865萬元；達140億 23,866萬元，增加3,441萬元。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營業單位大財管獎勵（二）：年度卓越獎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年度手收實績達門檻者核算業務宣導費；發放金額＝基礎金額 × (1＋手收實績成長率)，成長率四捨五入至小數2位，負成長以0計</a:t>
            </a:r>
            <a:endParaRPr lang="en-US" sz="1400" dirty="0"/>
          </a:p>
        </p:txBody>
      </p:sp>
      <p:sp>
        <p:nvSpPr>
          <p:cNvPr id="4" name="col 115年"/>
          <p:cNvSpPr txBox="1"/>
          <p:nvPr/>
        </p:nvSpPr>
        <p:spPr>
          <a:xfrm>
            <a:off x="457200" y="1554480"/>
            <a:ext cx="5394960" cy="384048"/>
          </a:xfrm>
          <a:prstGeom prst="rect">
            <a:avLst/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115年</a:t>
            </a:r>
            <a:endParaRPr lang="en-US" sz="1500" dirty="0"/>
          </a:p>
        </p:txBody>
      </p:sp>
      <p:sp>
        <p:nvSpPr>
          <p:cNvPr id="5" name="col 116年"/>
          <p:cNvSpPr txBox="1"/>
          <p:nvPr/>
        </p:nvSpPr>
        <p:spPr>
          <a:xfrm>
            <a:off x="6336792" y="1554480"/>
            <a:ext cx="5394960" cy="384048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116年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5394960" cy="914400"/>
        </p:xfrm>
        <a:graphic>
          <a:graphicData uri="http://schemas.openxmlformats.org/drawingml/2006/table">
            <a:tbl>
              <a:tblPr/>
              <a:tblGrid>
                <a:gridCol w="3344875"/>
                <a:gridCol w="2050085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年度手收實績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基礎金額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6,000萬～7,000萬元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100,000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7,000萬～8,000萬元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120,000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8,000萬～9,000萬元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140,000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9,000萬～1億元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160,000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1億～1.5億元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200,000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1.5億元以上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250,000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6792" y="1965960"/>
          <a:ext cx="5394960" cy="914400"/>
        </p:xfrm>
        <a:graphic>
          <a:graphicData uri="http://schemas.openxmlformats.org/drawingml/2006/table">
            <a:tbl>
              <a:tblPr/>
              <a:tblGrid>
                <a:gridCol w="3344875"/>
                <a:gridCol w="2050085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年度手收實績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基礎金額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8,000萬～9,000萬元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100,000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9,000萬～1億元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120,000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1億～1.1億元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140,000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1.1億～1.3億元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160,000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1.3億～2億元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200,000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2億元以上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250,000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42062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7F7F"/>
                </a:solidFill>
              </a:rPr>
              <a:t>預估費用：1,983萬元（成長率以115年對114年計）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336792" y="42062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</a:rPr>
              <a:t>預估費用：達125億 0元／達140億 1,436萬元</a:t>
            </a:r>
            <a:endParaRPr lang="en-US" sz="1300" dirty="0"/>
          </a:p>
        </p:txBody>
      </p:sp>
      <p:sp>
        <p:nvSpPr>
          <p:cNvPr id="10" name="diff panel"/>
          <p:cNvSpPr/>
          <p:nvPr/>
        </p:nvSpPr>
        <p:spPr>
          <a:xfrm>
            <a:off x="457200" y="4617720"/>
            <a:ext cx="11274552" cy="150876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1" name="chip 差異摘要"/>
          <p:cNvSpPr txBox="1"/>
          <p:nvPr/>
        </p:nvSpPr>
        <p:spPr>
          <a:xfrm>
            <a:off x="594360" y="472744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960A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差異摘要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103120" y="4663440"/>
            <a:ext cx="950976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門檻全面上調：起始門檻由6,000萬元提高至8,000萬元，最高級由1.5億元提高至2億元；各級基礎金額（10萬～25萬元）不變。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手收實績成長率改以116年對115年實績計算；預估費用由1,983萬元降至0元（達125億）／1,436萬元（達140億）。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※ 116年文件門檻表表頭仍寫「115年手收實績」，應為「116年手收實績」，建議修正。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非理財部門：客群經營盈餘共享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</a:rPr>
              <a:t>盈餘共享金額＝客群經營收入 × 發放率 × [綜合指標達成率×90%＋領導統御與法遵×10%]；計算公式與指標項目</a:t>
            </a:r>
            <a:pPr indent="0" marL="0">
              <a:buNone/>
            </a:pPr>
            <a:r>
              <a:rPr lang="en-US" sz="1350" b="1" dirty="0">
                <a:solidFill>
                  <a:srgbClr val="C00000"/>
                </a:solidFill>
              </a:rPr>
              <a:t>均不變</a:t>
            </a:r>
            <a:endParaRPr lang="en-US" sz="1350" dirty="0"/>
          </a:p>
        </p:txBody>
      </p:sp>
      <p:sp>
        <p:nvSpPr>
          <p:cNvPr id="4" name="col 115年"/>
          <p:cNvSpPr txBox="1"/>
          <p:nvPr/>
        </p:nvSpPr>
        <p:spPr>
          <a:xfrm>
            <a:off x="457200" y="1554480"/>
            <a:ext cx="5394960" cy="384048"/>
          </a:xfrm>
          <a:prstGeom prst="rect">
            <a:avLst/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115年</a:t>
            </a:r>
            <a:endParaRPr lang="en-US" sz="1500" dirty="0"/>
          </a:p>
        </p:txBody>
      </p:sp>
      <p:sp>
        <p:nvSpPr>
          <p:cNvPr id="5" name="col 116年"/>
          <p:cNvSpPr txBox="1"/>
          <p:nvPr/>
        </p:nvSpPr>
        <p:spPr>
          <a:xfrm>
            <a:off x="6336792" y="1554480"/>
            <a:ext cx="5394960" cy="384048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116年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3017520" cy="914400"/>
        </p:xfrm>
        <a:graphic>
          <a:graphicData uri="http://schemas.openxmlformats.org/drawingml/2006/table">
            <a:tbl>
              <a:tblPr/>
              <a:tblGrid>
                <a:gridCol w="1870862"/>
                <a:gridCol w="1146658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客群經營目標達成率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發放率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140%以上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3.0%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120%～140%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2.0%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100%～120%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1.5%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未達100%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1.0%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11880" y="1965960"/>
          <a:ext cx="2240280" cy="914400"/>
        </p:xfrm>
        <a:graphic>
          <a:graphicData uri="http://schemas.openxmlformats.org/drawingml/2006/table">
            <a:tbl>
              <a:tblPr/>
              <a:tblGrid>
                <a:gridCol w="1388974"/>
                <a:gridCol w="851306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客群經營收入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加權數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1,500萬以上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1.3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1,200～1,500萬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1.2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900～1,200萬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1.1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6792" y="1965960"/>
          <a:ext cx="3017520" cy="914400"/>
        </p:xfrm>
        <a:graphic>
          <a:graphicData uri="http://schemas.openxmlformats.org/drawingml/2006/table">
            <a:tbl>
              <a:tblPr/>
              <a:tblGrid>
                <a:gridCol w="1870862"/>
                <a:gridCol w="1146658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客群經營目標達成率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發放率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120%以上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3.5%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100%～120%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2.5%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未達100%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2.0%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491472" y="1965960"/>
          <a:ext cx="2240280" cy="914400"/>
        </p:xfrm>
        <a:graphic>
          <a:graphicData uri="http://schemas.openxmlformats.org/drawingml/2006/table">
            <a:tbl>
              <a:tblPr/>
              <a:tblGrid>
                <a:gridCol w="1388974"/>
                <a:gridCol w="851306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客群經營收入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加權數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2,000萬以上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1.3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1,600～2,000萬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1.2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1,200～1,600萬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1.1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4"/>
          <p:cNvSpPr txBox="1"/>
          <p:nvPr/>
        </p:nvSpPr>
        <p:spPr>
          <a:xfrm>
            <a:off x="457200" y="3794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7F7F"/>
                </a:solidFill>
              </a:rPr>
              <a:t>預估費用：12,989萬元</a:t>
            </a:r>
            <a:endParaRPr lang="en-US" sz="1300" dirty="0"/>
          </a:p>
        </p:txBody>
      </p:sp>
      <p:sp>
        <p:nvSpPr>
          <p:cNvPr id="11" name="Text 5"/>
          <p:cNvSpPr txBox="1"/>
          <p:nvPr/>
        </p:nvSpPr>
        <p:spPr>
          <a:xfrm>
            <a:off x="6336792" y="3794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</a:rPr>
              <a:t>預估費用：達125億 17,199萬元／達140億 22,711萬元</a:t>
            </a:r>
            <a:endParaRPr lang="en-US" sz="1300" dirty="0"/>
          </a:p>
        </p:txBody>
      </p:sp>
      <p:sp>
        <p:nvSpPr>
          <p:cNvPr id="12" name="diff panel"/>
          <p:cNvSpPr/>
          <p:nvPr/>
        </p:nvSpPr>
        <p:spPr>
          <a:xfrm>
            <a:off x="457200" y="4251960"/>
            <a:ext cx="11274552" cy="187452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3" name="chip 差異摘要"/>
          <p:cNvSpPr txBox="1"/>
          <p:nvPr/>
        </p:nvSpPr>
        <p:spPr>
          <a:xfrm>
            <a:off x="594360" y="43616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960A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差異摘要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2103120" y="4297680"/>
            <a:ext cx="950976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發放率級距由4級簡化為3級，且全面提高：120%以上3.5%（原140%以上3%）、100%～120% 2.5%（原1.5%）、未達100% 2%（原1%）。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客群經營收入加權數門檻上調為2,000／1,600／1,200萬元（原1,500／1,200／900萬元）。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客群經營收入定義、綜合指標十大商品（基金、保險、外國債、房貸、個金放款、信用卡、外幣定存、信託、LINE綁定、證券戶）及法遵扣減項目維持不變。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預估費用增幅最大：達125億 17,199萬元（+4,210萬元）；達140億 22,711萬元（+9,722萬元）。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經理及理財主管：個人管理獎金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</a:rPr>
              <a:t>依分行財管業務達成情形給予個人管理獎金：達標獎（乘手收加權數）＋實績排名獎（各區前3名1～3萬元）＋目標超額成長獎</a:t>
            </a:r>
            <a:endParaRPr lang="en-US" sz="1350" dirty="0"/>
          </a:p>
        </p:txBody>
      </p:sp>
      <p:sp>
        <p:nvSpPr>
          <p:cNvPr id="4" name="col 115年"/>
          <p:cNvSpPr txBox="1"/>
          <p:nvPr/>
        </p:nvSpPr>
        <p:spPr>
          <a:xfrm>
            <a:off x="457200" y="1554480"/>
            <a:ext cx="5394960" cy="384048"/>
          </a:xfrm>
          <a:prstGeom prst="rect">
            <a:avLst/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115年</a:t>
            </a:r>
            <a:endParaRPr lang="en-US" sz="1500" dirty="0"/>
          </a:p>
        </p:txBody>
      </p:sp>
      <p:sp>
        <p:nvSpPr>
          <p:cNvPr id="5" name="col 116年"/>
          <p:cNvSpPr txBox="1"/>
          <p:nvPr/>
        </p:nvSpPr>
        <p:spPr>
          <a:xfrm>
            <a:off x="6336792" y="1554480"/>
            <a:ext cx="5394960" cy="384048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116年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3063240" cy="914400"/>
        </p:xfrm>
        <a:graphic>
          <a:graphicData uri="http://schemas.openxmlformats.org/drawingml/2006/table">
            <a:tbl>
              <a:tblPr/>
              <a:tblGrid>
                <a:gridCol w="1899209"/>
                <a:gridCol w="1164031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分行達成率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管理獎金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140%以上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120,000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120%～140%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100,000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100%～120%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80,000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80%～100%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60,000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60%～80%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40,000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40%～60% 且手收1,000萬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20,000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1965960"/>
          <a:ext cx="2194560" cy="914400"/>
        </p:xfrm>
        <a:graphic>
          <a:graphicData uri="http://schemas.openxmlformats.org/drawingml/2006/table">
            <a:tbl>
              <a:tblPr/>
              <a:tblGrid>
                <a:gridCol w="1360627"/>
                <a:gridCol w="833933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財管手收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加權數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2,500萬以上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1.3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2,000～2,500萬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1.2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1,500～2,000萬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1.1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6792" y="1965960"/>
          <a:ext cx="3063240" cy="914400"/>
        </p:xfrm>
        <a:graphic>
          <a:graphicData uri="http://schemas.openxmlformats.org/drawingml/2006/table">
            <a:tbl>
              <a:tblPr/>
              <a:tblGrid>
                <a:gridCol w="1899209"/>
                <a:gridCol w="1164031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分行達成率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管理獎金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120%以上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130,000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100%～120%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90,000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80%～100%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70,000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60%～80%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50,000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40%～60% 且手收1,300萬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30,000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37192" y="1965960"/>
          <a:ext cx="2194560" cy="914400"/>
        </p:xfrm>
        <a:graphic>
          <a:graphicData uri="http://schemas.openxmlformats.org/drawingml/2006/table">
            <a:tbl>
              <a:tblPr/>
              <a:tblGrid>
                <a:gridCol w="1360627"/>
                <a:gridCol w="833933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財管手收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加權數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3,500萬以上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1.3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2,500～3,500萬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1.2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2,000～2,500萬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1.1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4"/>
          <p:cNvSpPr txBox="1"/>
          <p:nvPr/>
        </p:nvSpPr>
        <p:spPr>
          <a:xfrm>
            <a:off x="3657600" y="3291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目標超額成長獎：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115年目標較114年成長30%／50%／80%以上，且當季達成率100% → 3萬／5萬／10萬元</a:t>
            </a:r>
            <a:endParaRPr lang="en-US" sz="1050" dirty="0"/>
          </a:p>
        </p:txBody>
      </p:sp>
      <p:sp>
        <p:nvSpPr>
          <p:cNvPr id="11" name="Text 5"/>
          <p:cNvSpPr txBox="1"/>
          <p:nvPr/>
        </p:nvSpPr>
        <p:spPr>
          <a:xfrm>
            <a:off x="9537192" y="3291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目標超額成長獎：</a:t>
            </a:r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</a:rPr>
              <a:t>本項取消</a:t>
            </a:r>
            <a:endParaRPr lang="en-US" sz="1100" dirty="0"/>
          </a:p>
        </p:txBody>
      </p:sp>
      <p:sp>
        <p:nvSpPr>
          <p:cNvPr id="12" name="Text 6"/>
          <p:cNvSpPr txBox="1"/>
          <p:nvPr/>
        </p:nvSpPr>
        <p:spPr>
          <a:xfrm>
            <a:off x="457200" y="42519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7F7F"/>
                </a:solidFill>
              </a:rPr>
              <a:t>預估費用：12,438萬元</a:t>
            </a:r>
            <a:endParaRPr lang="en-US" sz="1300" dirty="0"/>
          </a:p>
        </p:txBody>
      </p:sp>
      <p:sp>
        <p:nvSpPr>
          <p:cNvPr id="13" name="Text 7"/>
          <p:cNvSpPr txBox="1"/>
          <p:nvPr/>
        </p:nvSpPr>
        <p:spPr>
          <a:xfrm>
            <a:off x="6336792" y="42519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</a:rPr>
              <a:t>預估費用：達125億 10,598萬元／達140億 12,663萬元</a:t>
            </a:r>
            <a:endParaRPr lang="en-US" sz="1300" dirty="0"/>
          </a:p>
        </p:txBody>
      </p:sp>
      <p:sp>
        <p:nvSpPr>
          <p:cNvPr id="14" name="diff panel"/>
          <p:cNvSpPr/>
          <p:nvPr/>
        </p:nvSpPr>
        <p:spPr>
          <a:xfrm>
            <a:off x="457200" y="4617720"/>
            <a:ext cx="11274552" cy="150876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5" name="chip 差異摘要"/>
          <p:cNvSpPr txBox="1"/>
          <p:nvPr/>
        </p:nvSpPr>
        <p:spPr>
          <a:xfrm>
            <a:off x="594360" y="472744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960A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差異摘要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2103120" y="4663440"/>
            <a:ext cx="950976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達標獎級距由6級簡化為5級：最高級門檻由140%降為120%、獎金提高至13萬元；中間各級獎金各提高1萬元；最低級手收門檻由1,000萬元提高至1,300萬元、獎金由2萬元提高至3萬元。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手收加權數門檻上調為3,500／2,500／2,000萬元；取消「目標超額成長獎」；實績排名獎不變。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預估費用：達125億 10,598萬元（-1,840萬元）；達140億 12,663萬元（+225萬元）。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645920" y="274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績效理專、轉介同仁、通路中心獎勵比較</a:t>
            </a:r>
            <a:endParaRPr lang="en-US" sz="3000" dirty="0"/>
          </a:p>
        </p:txBody>
      </p:sp>
      <p:sp>
        <p:nvSpPr>
          <p:cNvPr id="3" name="card 績效理專"/>
          <p:cNvSpPr/>
          <p:nvPr/>
        </p:nvSpPr>
        <p:spPr>
          <a:xfrm>
            <a:off x="457200" y="1143000"/>
            <a:ext cx="2724912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5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3444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績效理專</a:t>
            </a:r>
            <a:endParaRPr lang="en-US" sz="1500" dirty="0"/>
          </a:p>
        </p:txBody>
      </p:sp>
      <p:sp>
        <p:nvSpPr>
          <p:cNvPr id="5" name="tag 績效理專"/>
          <p:cNvSpPr txBox="1"/>
          <p:nvPr/>
        </p:nvSpPr>
        <p:spPr>
          <a:xfrm>
            <a:off x="594360" y="1645920"/>
            <a:ext cx="1737360" cy="292608"/>
          </a:xfrm>
          <a:prstGeom prst="roundRect">
            <a:avLst>
              <a:gd name="adj" fmla="val 31250"/>
            </a:avLst>
          </a:prstGeom>
          <a:solidFill>
            <a:srgbClr val="7F7F7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116年刪除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5740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7F7F"/>
                </a:solidFill>
              </a:rPr>
              <a:t>115年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313432"/>
            <a:ext cx="2450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排名獎：達成率100%以上依實績排名，1～30名6萬元、31～50名4萬元、51～80名2萬元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33756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</a:rPr>
              <a:t>116年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593592"/>
            <a:ext cx="2450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本項刪除</a:t>
            </a:r>
            <a:endParaRPr lang="en-US" sz="1100" dirty="0"/>
          </a:p>
        </p:txBody>
      </p:sp>
      <p:sp>
        <p:nvSpPr>
          <p:cNvPr id="10" name="diff 績效理專"/>
          <p:cNvSpPr/>
          <p:nvPr/>
        </p:nvSpPr>
        <p:spPr>
          <a:xfrm>
            <a:off x="594360" y="4892040"/>
            <a:ext cx="2450592" cy="109728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4937760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</a:rPr>
              <a:t>費用 1,280萬 → 0萬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獎勵資源移作新增之轉介同仁年度排名獎</a:t>
            </a:r>
            <a:endParaRPr lang="en-US" sz="1050" dirty="0"/>
          </a:p>
        </p:txBody>
      </p:sp>
      <p:sp>
        <p:nvSpPr>
          <p:cNvPr id="12" name="card 轉介同仁（不含主管）"/>
          <p:cNvSpPr/>
          <p:nvPr/>
        </p:nvSpPr>
        <p:spPr>
          <a:xfrm>
            <a:off x="3319272" y="1143000"/>
            <a:ext cx="2724912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5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56432" y="123444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轉介同仁（不含主管）</a:t>
            </a:r>
            <a:endParaRPr lang="en-US" sz="1500" dirty="0"/>
          </a:p>
        </p:txBody>
      </p:sp>
      <p:sp>
        <p:nvSpPr>
          <p:cNvPr id="14" name="tag 轉介同仁（不含主管）"/>
          <p:cNvSpPr txBox="1"/>
          <p:nvPr/>
        </p:nvSpPr>
        <p:spPr>
          <a:xfrm>
            <a:off x="3456432" y="1645920"/>
            <a:ext cx="1737360" cy="292608"/>
          </a:xfrm>
          <a:prstGeom prst="roundRect">
            <a:avLst>
              <a:gd name="adj" fmla="val 31250"/>
            </a:avLst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116年新增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205740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7F7F"/>
                </a:solidFill>
              </a:rPr>
              <a:t>115年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456432" y="2313432"/>
            <a:ext cx="2450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無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456432" y="333756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</a:rPr>
              <a:t>116年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456432" y="3593592"/>
            <a:ext cx="2450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年度排名獎：依轉介實績點數全行排名，第1名20萬、第2名17萬、第3名15萬、4～10名14.5萬、11～20名13.65萬、21～40名13萬、41～60名12.5萬、61～100名12萬元</a:t>
            </a:r>
            <a:endParaRPr lang="en-US" sz="1100" dirty="0"/>
          </a:p>
        </p:txBody>
      </p:sp>
      <p:sp>
        <p:nvSpPr>
          <p:cNvPr id="19" name="diff 轉介同仁（不含主管）"/>
          <p:cNvSpPr/>
          <p:nvPr/>
        </p:nvSpPr>
        <p:spPr>
          <a:xfrm>
            <a:off x="3456432" y="4892040"/>
            <a:ext cx="2450592" cy="109728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20440" y="4937760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</a:rPr>
              <a:t>費用 0萬 → 1,280萬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費用與原績效理專獎相同，獎勵對象由理專轉向轉介同仁</a:t>
            </a:r>
            <a:endParaRPr lang="en-US" sz="1050" dirty="0"/>
          </a:p>
        </p:txBody>
      </p:sp>
      <p:sp>
        <p:nvSpPr>
          <p:cNvPr id="21" name="card 通路中心經理"/>
          <p:cNvSpPr/>
          <p:nvPr/>
        </p:nvSpPr>
        <p:spPr>
          <a:xfrm>
            <a:off x="6181344" y="1143000"/>
            <a:ext cx="2724912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5C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18504" y="123444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通路中心經理</a:t>
            </a:r>
            <a:endParaRPr lang="en-US" sz="1500" dirty="0"/>
          </a:p>
        </p:txBody>
      </p:sp>
      <p:sp>
        <p:nvSpPr>
          <p:cNvPr id="23" name="tag 通路中心經理"/>
          <p:cNvSpPr txBox="1"/>
          <p:nvPr/>
        </p:nvSpPr>
        <p:spPr>
          <a:xfrm>
            <a:off x="6318504" y="1645920"/>
            <a:ext cx="1737360" cy="292608"/>
          </a:xfrm>
          <a:prstGeom prst="roundRect">
            <a:avLst>
              <a:gd name="adj" fmla="val 31250"/>
            </a:avLst>
          </a:prstGeom>
          <a:solidFill>
            <a:srgbClr val="2EA9B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無變動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318504" y="205740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7F7F"/>
                </a:solidFill>
              </a:rPr>
              <a:t>115年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318504" y="2313432"/>
            <a:ext cx="2450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達標獎：達成率60%以上3萬元；排名獎：前3名8、6、4萬元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318504" y="333756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</a:rPr>
              <a:t>116年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318504" y="3593592"/>
            <a:ext cx="2450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同115年</a:t>
            </a:r>
            <a:endParaRPr lang="en-US" sz="1100" dirty="0"/>
          </a:p>
        </p:txBody>
      </p:sp>
      <p:sp>
        <p:nvSpPr>
          <p:cNvPr id="28" name="diff 通路中心經理"/>
          <p:cNvSpPr/>
          <p:nvPr/>
        </p:nvSpPr>
        <p:spPr>
          <a:xfrm>
            <a:off x="6318504" y="4892040"/>
            <a:ext cx="2450592" cy="109728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82512" y="4937760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</a:rPr>
              <a:t>費用 132萬 → 132萬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規則與費用均維持不變</a:t>
            </a:r>
            <a:endParaRPr lang="en-US" sz="1050" dirty="0"/>
          </a:p>
        </p:txBody>
      </p:sp>
      <p:sp>
        <p:nvSpPr>
          <p:cNvPr id="30" name="card 通路中心（業務宣導費）"/>
          <p:cNvSpPr/>
          <p:nvPr/>
        </p:nvSpPr>
        <p:spPr>
          <a:xfrm>
            <a:off x="9043416" y="1143000"/>
            <a:ext cx="2724912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5C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80576" y="123444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通路中心（業務宣導費）</a:t>
            </a:r>
            <a:endParaRPr lang="en-US" sz="1500" dirty="0"/>
          </a:p>
        </p:txBody>
      </p:sp>
      <p:sp>
        <p:nvSpPr>
          <p:cNvPr id="32" name="tag 通路中心（業務宣導費）"/>
          <p:cNvSpPr txBox="1"/>
          <p:nvPr/>
        </p:nvSpPr>
        <p:spPr>
          <a:xfrm>
            <a:off x="9180576" y="1645920"/>
            <a:ext cx="1737360" cy="292608"/>
          </a:xfrm>
          <a:prstGeom prst="roundRect">
            <a:avLst>
              <a:gd name="adj" fmla="val 31250"/>
            </a:avLst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門檻下修・金額提高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180576" y="205740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7F7F"/>
                </a:solidFill>
              </a:rPr>
              <a:t>115年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180576" y="2313432"/>
            <a:ext cx="2450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達標獎：90%以上8萬、70%～90% 5萬、60%～70% 3萬元；排名獎：前3名5、4、2萬元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180576" y="333756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</a:rPr>
              <a:t>116年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180576" y="3593592"/>
            <a:ext cx="2450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達標獎：80%以上15萬、60%～80% 10萬、50%～60% 6萬元；排名獎：前3名8、6、4萬元</a:t>
            </a:r>
            <a:endParaRPr lang="en-US" sz="1100" dirty="0"/>
          </a:p>
        </p:txBody>
      </p:sp>
      <p:sp>
        <p:nvSpPr>
          <p:cNvPr id="37" name="diff 通路中心（業務宣導費）"/>
          <p:cNvSpPr/>
          <p:nvPr/>
        </p:nvSpPr>
        <p:spPr>
          <a:xfrm>
            <a:off x="9180576" y="4892040"/>
            <a:ext cx="2450592" cy="1097280"/>
          </a:xfrm>
          <a:prstGeom prst="rect">
            <a:avLst/>
          </a:prstGeom>
          <a:solidFill>
            <a:srgbClr val="FDF1E9"/>
          </a:solidFill>
          <a:ln w="12700">
            <a:solidFill>
              <a:srgbClr val="FDF1E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44584" y="4937760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</a:rPr>
              <a:t>費用 204萬 → 344萬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達標門檻各下修10個百分點、獎金約提高一倍；排名獎提高至8、6、4萬元；費用增加140萬元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82296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NCB Red">
  <a:themeElements>
    <a:clrScheme name="HNCB Red">
      <a:dk1>
        <a:srgbClr val="000000"/>
      </a:dk1>
      <a:lt1>
        <a:srgbClr val="FFFFFF"/>
      </a:lt1>
      <a:dk2>
        <a:srgbClr val="960A14"/>
      </a:dk2>
      <a:lt2>
        <a:srgbClr val="FDF1E9"/>
      </a:lt2>
      <a:accent1>
        <a:srgbClr val="C00000"/>
      </a:accent1>
      <a:accent2>
        <a:srgbClr val="7F7F7F"/>
      </a:accent2>
      <a:accent3>
        <a:srgbClr val="D96C6C"/>
      </a:accent3>
      <a:accent4>
        <a:srgbClr val="2EA9B6"/>
      </a:accent4>
      <a:accent5>
        <a:srgbClr val="C5C5C5"/>
      </a:accent5>
      <a:accent6>
        <a:srgbClr val="FFC000"/>
      </a:accent6>
      <a:hlink>
        <a:srgbClr val="C00000"/>
      </a:hlink>
      <a:folHlink>
        <a:srgbClr val="960A14"/>
      </a:folHlink>
    </a:clrScheme>
    <a:fontScheme name="HNCB Red">
      <a:majorFont>
        <a:latin typeface="微軟正黑體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軟正黑體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財富管理手續費收入目標訂定原則比較（115年 vs 116年方案1/方案2）</dc:title>
  <dc:subject>PptxGenJS Presentation</dc:subject>
  <dc:creator>PptxGenJS</dc:creator>
  <cp:lastModifiedBy>PptxGenJS</cp:lastModifiedBy>
  <cp:revision>1</cp:revision>
  <dcterms:created xsi:type="dcterms:W3CDTF">2026-10-20T05:48:49Z</dcterms:created>
  <dcterms:modified xsi:type="dcterms:W3CDTF">2026-10-20T05:48:49Z</dcterms:modified>
</cp:coreProperties>
</file>