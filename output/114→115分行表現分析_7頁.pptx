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4→115 分行表現分析" id="{8942e384-0af2-b462-3290-48ccc4fc3f7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各通路區達成率：115年 vs 114年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115年達成率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北二區</c:v>
                  </c:pt>
                  <c:pt idx="1">
                    <c:v>北一區</c:v>
                  </c:pt>
                  <c:pt idx="2">
                    <c:v>北三區</c:v>
                  </c:pt>
                  <c:pt idx="3">
                    <c:v>中區</c:v>
                  </c:pt>
                  <c:pt idx="4">
                    <c:v>南區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113.9</c:v>
                </c:pt>
                <c:pt idx="1">
                  <c:v>107</c:v>
                </c:pt>
                <c:pt idx="2">
                  <c:v>102.8</c:v>
                </c:pt>
                <c:pt idx="3">
                  <c:v>102.7</c:v>
                </c:pt>
                <c:pt idx="4">
                  <c:v>101.8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114年達成率</c:v>
                </c:pt>
              </c:strCache>
            </c:strRef>
          </c:tx>
          <c:spPr>
            <a:solidFill>
              <a:srgbClr val="C5C5C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北二區</c:v>
                  </c:pt>
                  <c:pt idx="1">
                    <c:v>北一區</c:v>
                  </c:pt>
                  <c:pt idx="2">
                    <c:v>北三區</c:v>
                  </c:pt>
                  <c:pt idx="3">
                    <c:v>中區</c:v>
                  </c:pt>
                  <c:pt idx="4">
                    <c:v>南區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97.5</c:v>
                </c:pt>
                <c:pt idx="1">
                  <c:v>88.9</c:v>
                </c:pt>
                <c:pt idx="2">
                  <c:v>96.4</c:v>
                </c:pt>
                <c:pt idx="3">
                  <c:v>105.3</c:v>
                </c:pt>
                <c:pt idx="4">
                  <c:v>102.4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8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115年年化達成率分布（分行家數）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未達標（&lt;100%）84家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未達60%</c:v>
                  </c:pt>
                  <c:pt idx="1">
                    <c:v>60～70%</c:v>
                  </c:pt>
                  <c:pt idx="2">
                    <c:v>70～75%</c:v>
                  </c:pt>
                  <c:pt idx="3">
                    <c:v>75～80%</c:v>
                  </c:pt>
                  <c:pt idx="4">
                    <c:v>80～90%</c:v>
                  </c:pt>
                  <c:pt idx="5">
                    <c:v>90～100%</c:v>
                  </c:pt>
                  <c:pt idx="6">
                    <c:v>100～110%</c:v>
                  </c:pt>
                  <c:pt idx="7">
                    <c:v>110～120%</c:v>
                  </c:pt>
                  <c:pt idx="8">
                    <c:v>120～130%</c:v>
                  </c:pt>
                  <c:pt idx="9">
                    <c:v>130～150%</c:v>
                  </c:pt>
                  <c:pt idx="10">
                    <c:v>150～180%</c:v>
                  </c:pt>
                  <c:pt idx="11">
                    <c:v>180%以上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7</c:v>
                </c:pt>
                <c:pt idx="2">
                  <c:v>10</c:v>
                </c:pt>
                <c:pt idx="3">
                  <c:v>12</c:v>
                </c:pt>
                <c:pt idx="4">
                  <c:v>24</c:v>
                </c:pt>
                <c:pt idx="5">
                  <c:v>29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達標（≥100%）99家</c:v>
                </c:pt>
              </c:strCache>
            </c:strRef>
          </c:tx>
          <c:spPr>
            <a:solidFill>
              <a:srgbClr val="2EA9B6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未達60%</c:v>
                  </c:pt>
                  <c:pt idx="1">
                    <c:v>60～70%</c:v>
                  </c:pt>
                  <c:pt idx="2">
                    <c:v>70～75%</c:v>
                  </c:pt>
                  <c:pt idx="3">
                    <c:v>75～80%</c:v>
                  </c:pt>
                  <c:pt idx="4">
                    <c:v>80～90%</c:v>
                  </c:pt>
                  <c:pt idx="5">
                    <c:v>90～100%</c:v>
                  </c:pt>
                  <c:pt idx="6">
                    <c:v>100～110%</c:v>
                  </c:pt>
                  <c:pt idx="7">
                    <c:v>110～120%</c:v>
                  </c:pt>
                  <c:pt idx="8">
                    <c:v>120～130%</c:v>
                  </c:pt>
                  <c:pt idx="9">
                    <c:v>130～150%</c:v>
                  </c:pt>
                  <c:pt idx="10">
                    <c:v>150～180%</c:v>
                  </c:pt>
                  <c:pt idx="11">
                    <c:v>180%以上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25</c:v>
                </c:pt>
                <c:pt idx="7">
                  <c:v>27</c:v>
                </c:pt>
                <c:pt idx="8">
                  <c:v>17</c:v>
                </c:pt>
                <c:pt idx="9">
                  <c:v>23</c:v>
                </c:pt>
                <c:pt idx="10">
                  <c:v>4</c:v>
                </c:pt>
                <c:pt idx="11">
                  <c:v>3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115年落入「未達75%」之比例（依114年級距）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115年未達75%比例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8.3</c:v>
                </c:pt>
                <c:pt idx="7">
                  <c:v>17</c:v>
                </c:pt>
                <c:pt idx="8">
                  <c:v>29.2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115年目標 較114年實績 成長率（依114年達成率級距，群合計）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115年目標較114年實績成長率</c:v>
                </c:pt>
              </c:strCache>
            </c:strRef>
          </c:tx>
          <c:spPr>
            <a:solidFill>
              <a:srgbClr val="D96C6C"/>
            </a:solidFill>
            <a:effectLst/>
          </c:spPr>
          <c:invertIfNegative val="0"/>
          <c:dLbls>
            <c:numFmt formatCode="+0.0&quot;%&quot;;-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-25.1</c:v>
                </c:pt>
                <c:pt idx="1">
                  <c:v>-18.2</c:v>
                </c:pt>
                <c:pt idx="2">
                  <c:v>-6.9</c:v>
                </c:pt>
                <c:pt idx="3">
                  <c:v>-0.5</c:v>
                </c:pt>
                <c:pt idx="4">
                  <c:v>8</c:v>
                </c:pt>
                <c:pt idx="5">
                  <c:v>11</c:v>
                </c:pt>
                <c:pt idx="6">
                  <c:v>21.8</c:v>
                </c:pt>
                <c:pt idx="7">
                  <c:v>42.3</c:v>
                </c:pt>
                <c:pt idx="8">
                  <c:v>77.4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4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115年年化達成率（群合計）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115年達成率</c:v>
                </c:pt>
              </c:strCache>
            </c:strRef>
          </c:tx>
          <c:spPr>
            <a:solidFill>
              <a:srgbClr val="960A1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200%以上</c:v>
                  </c:pt>
                  <c:pt idx="1">
                    <c:v>150～200%</c:v>
                  </c:pt>
                  <c:pt idx="2">
                    <c:v>130～150%</c:v>
                  </c:pt>
                  <c:pt idx="3">
                    <c:v>120～130%</c:v>
                  </c:pt>
                  <c:pt idx="4">
                    <c:v>110～120%</c:v>
                  </c:pt>
                  <c:pt idx="5">
                    <c:v>100～110%</c:v>
                  </c:pt>
                  <c:pt idx="6">
                    <c:v>90～100%</c:v>
                  </c:pt>
                  <c:pt idx="7">
                    <c:v>75～90%</c:v>
                  </c:pt>
                  <c:pt idx="8">
                    <c:v>未達75%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188.7</c:v>
                </c:pt>
                <c:pt idx="1">
                  <c:v>128.4</c:v>
                </c:pt>
                <c:pt idx="2">
                  <c:v>123.9</c:v>
                </c:pt>
                <c:pt idx="3">
                  <c:v>130.4</c:v>
                </c:pt>
                <c:pt idx="4">
                  <c:v>112</c:v>
                </c:pt>
                <c:pt idx="5">
                  <c:v>105</c:v>
                </c:pt>
                <c:pt idx="6">
                  <c:v>106.1</c:v>
                </c:pt>
                <c:pt idx="7">
                  <c:v>95.7</c:v>
                </c:pt>
                <c:pt idx="8">
                  <c:v>94.6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19家分行合計（億元）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億元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0&quot;億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C5C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A9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115年目標</c:v>
                  </c:pt>
                  <c:pt idx="1">
                    <c:v>115年年化實績</c:v>
                  </c:pt>
                  <c:pt idx="2">
                    <c:v>116年目標
沿用115年規則
（分行目標×115%）</c:v>
                  </c:pt>
                  <c:pt idx="3">
                    <c:v>116年目標
方案1
（預估實績×103%）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10.98</c:v>
                </c:pt>
                <c:pt idx="1">
                  <c:v>7.51</c:v>
                </c:pt>
                <c:pt idx="2">
                  <c:v>12.62</c:v>
                </c:pt>
                <c:pt idx="3">
                  <c:v>7.74</c:v>
                </c:pt>
              </c:numCache>
            </c:numRef>
          </c:val>
        </c:ser>
        <c:dLbls>
          <c:numFmt formatCode="0.00&quot;億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億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115年達成說明：目標117.85億、年化實績124.86億、達成105.9%；達標99家（54%）；北二區113.9%最高。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114年未達標113家，115年目標以114分行目標加成，較114實績平均拉高41%，115年仍有66家未達標、19家未達75%。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115年達成率分布：99家達標（54%）、84家未達標（46%）；中位數101%；75～100%共65家為最大族群。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流向矩陣：115年未達75%的19家全部來自114年未達標群；比例隨114年達成率降低而升高。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114年未達75%的分行，115年目標較114實績拉高77%，達成率僅95%；績優分行目標低於實績，達成率近190%。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瀑布：目標117.85億＋超額15.23億−缺口8.23億＝實績124.86億。超額60%來自114年達標群；缺口86%來自114年未達標群。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116目標底稿SUMMARY TYPE_6：19家、成長目標7.74億。若沿用115年規則（分行目標×115%）約12.62億。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" y="64008"/>
            <a:ext cx="143560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6336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〔僅供行內教育訓練使用〕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115年財富管理手續費收入達成說明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115年1-9月實績 98.42億（目標進度 92.91億，達成 105.9%）；年化後 124.86億 對全年目標 117.85億。以下分析皆以年化數字為準</a:t>
            </a:r>
            <a:endParaRPr lang="en-US" sz="1300" dirty="0"/>
          </a:p>
        </p:txBody>
      </p:sp>
      <p:sp>
        <p:nvSpPr>
          <p:cNvPr id="4" name="kpi 115年目標"/>
          <p:cNvSpPr/>
          <p:nvPr/>
        </p:nvSpPr>
        <p:spPr>
          <a:xfrm>
            <a:off x="457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115年目標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117.85億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較114年目標 +19.3%</a:t>
            </a:r>
            <a:endParaRPr lang="en-US" sz="1000" dirty="0"/>
          </a:p>
        </p:txBody>
      </p:sp>
      <p:sp>
        <p:nvSpPr>
          <p:cNvPr id="8" name="kpi 115年年化實績"/>
          <p:cNvSpPr/>
          <p:nvPr/>
        </p:nvSpPr>
        <p:spPr>
          <a:xfrm>
            <a:off x="2743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115年年化實績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60A14"/>
                </a:solidFill>
              </a:rPr>
              <a:t>124.86億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較114年實績 +29.7%</a:t>
            </a:r>
            <a:endParaRPr lang="en-US" sz="1000" dirty="0"/>
          </a:p>
        </p:txBody>
      </p:sp>
      <p:sp>
        <p:nvSpPr>
          <p:cNvPr id="12" name="kpi 115年達成率"/>
          <p:cNvSpPr/>
          <p:nvPr/>
        </p:nvSpPr>
        <p:spPr>
          <a:xfrm>
            <a:off x="5029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115年達成率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105.9%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114年為 97.5%</a:t>
            </a:r>
            <a:endParaRPr lang="en-US" sz="1000" dirty="0"/>
          </a:p>
        </p:txBody>
      </p:sp>
      <p:sp>
        <p:nvSpPr>
          <p:cNvPr id="16" name="kpi 達標分行"/>
          <p:cNvSpPr/>
          <p:nvPr/>
        </p:nvSpPr>
        <p:spPr>
          <a:xfrm>
            <a:off x="7315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達標分行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99 / 183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占54%（114年 70家、38%）</a:t>
            </a:r>
            <a:endParaRPr lang="en-US" sz="1000" dirty="0"/>
          </a:p>
        </p:txBody>
      </p:sp>
      <p:sp>
        <p:nvSpPr>
          <p:cNvPr id="20" name="kpi 淨超額"/>
          <p:cNvSpPr/>
          <p:nvPr/>
        </p:nvSpPr>
        <p:spPr>
          <a:xfrm>
            <a:off x="9601200" y="1463040"/>
            <a:ext cx="2130552" cy="1234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</a:rPr>
              <a:t>淨超額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176479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+7.00億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超額15.23億 − 缺口8.23億</a:t>
            </a:r>
            <a:endParaRPr lang="en-US" sz="1000" dirty="0"/>
          </a:p>
        </p:txBody>
      </p:sp>
      <p:sp>
        <p:nvSpPr>
          <p:cNvPr id="24" name="chip 各通路區達成情形"/>
          <p:cNvSpPr txBox="1"/>
          <p:nvPr/>
        </p:nvSpPr>
        <p:spPr>
          <a:xfrm>
            <a:off x="457200" y="288036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各通路區達成情形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6675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868680"/>
                <a:gridCol w="868680"/>
                <a:gridCol w="914400"/>
                <a:gridCol w="868680"/>
                <a:gridCol w="86868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通路區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家數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115目標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115實績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115達成率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超額/缺口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達標家數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114達成率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北二區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24.25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27.62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113.9%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+3.36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23 / 36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97.5%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北一區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29.63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31.71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107.0%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+2.08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23 / 46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88.9%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北三區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19.19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19.73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102.8%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+0.54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18 / 33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96.4%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中區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21.97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22.57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102.7%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+0.60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15 / 31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105.3%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南區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22.82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23.24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101.8%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+0.42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20 / 37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F7F7F"/>
                          </a:solidFill>
                        </a:rPr>
                        <a:t>102.4%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全行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117.85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124.86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105.9%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+7.00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99 / 183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</a:rPr>
                        <a:t>97.5%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57200" y="56235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</a:rPr>
              <a:t>單位：億元；達成率＝年化實績÷目標</a:t>
            </a:r>
            <a:endParaRPr lang="en-US" sz="9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7315200" y="2880360"/>
          <a:ext cx="4434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insight box"/>
          <p:cNvSpPr/>
          <p:nvPr/>
        </p:nvSpPr>
        <p:spPr>
          <a:xfrm>
            <a:off x="7315200" y="5349240"/>
            <a:ext cx="4434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406640" y="5376672"/>
            <a:ext cx="42519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</a:rPr>
              <a:t>重點：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全行105.9%由北二區、北一區貢獻（超額5.44億，占淨超額78%）；中區、南區114年達標、115年降至約102%；達標分行僅54%，近半數分行未達目標。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114年未達標分行的「目標懲罰循環」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以 114 年達成率分群，追蹤 183 家分行在 115 年規則下的目標與實績（資料：COMPARE114／財管手收比較表）</a:t>
            </a:r>
            <a:endParaRPr lang="en-US" sz="1300" dirty="0"/>
          </a:p>
        </p:txBody>
      </p:sp>
      <p:sp>
        <p:nvSpPr>
          <p:cNvPr id="4" name="step 1"/>
          <p:cNvSpPr/>
          <p:nvPr/>
        </p:nvSpPr>
        <p:spPr>
          <a:xfrm>
            <a:off x="457200" y="1508760"/>
            <a:ext cx="2697480" cy="457200"/>
          </a:xfrm>
          <a:prstGeom prst="homePlat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 114年未達標</a:t>
            </a:r>
            <a:endParaRPr lang="en-US" sz="1400" dirty="0"/>
          </a:p>
        </p:txBody>
      </p:sp>
      <p:sp>
        <p:nvSpPr>
          <p:cNvPr id="6" name="card 1"/>
          <p:cNvSpPr/>
          <p:nvPr/>
        </p:nvSpPr>
        <p:spPr>
          <a:xfrm>
            <a:off x="457200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F7F7F"/>
                </a:solidFill>
              </a:rPr>
              <a:t>113家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達成率未達100%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占全行 62%</a:t>
            </a:r>
            <a:endParaRPr lang="en-US" sz="1150" dirty="0"/>
          </a:p>
        </p:txBody>
      </p:sp>
      <p:sp>
        <p:nvSpPr>
          <p:cNvPr id="9" name="step 2"/>
          <p:cNvSpPr/>
          <p:nvPr/>
        </p:nvSpPr>
        <p:spPr>
          <a:xfrm>
            <a:off x="3310128" y="1508760"/>
            <a:ext cx="2697480" cy="457200"/>
          </a:xfrm>
          <a:prstGeom prst="chevron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 115年目標被拉高</a:t>
            </a:r>
            <a:endParaRPr lang="en-US" sz="1400" dirty="0"/>
          </a:p>
        </p:txBody>
      </p:sp>
      <p:sp>
        <p:nvSpPr>
          <p:cNvPr id="11" name="card 2"/>
          <p:cNvSpPr/>
          <p:nvPr/>
        </p:nvSpPr>
        <p:spPr>
          <a:xfrm>
            <a:off x="3310128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+41%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115目標＝114分行目標×105～115%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較114年實績平均拉高41%</a:t>
            </a:r>
            <a:endParaRPr lang="en-US" sz="1150" dirty="0"/>
          </a:p>
        </p:txBody>
      </p:sp>
      <p:sp>
        <p:nvSpPr>
          <p:cNvPr id="14" name="step 3"/>
          <p:cNvSpPr/>
          <p:nvPr/>
        </p:nvSpPr>
        <p:spPr>
          <a:xfrm>
            <a:off x="6163056" y="1508760"/>
            <a:ext cx="2697480" cy="457200"/>
          </a:xfrm>
          <a:prstGeom prst="chevron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 115年持續未達標</a:t>
            </a:r>
            <a:endParaRPr lang="en-US" sz="1400" dirty="0"/>
          </a:p>
        </p:txBody>
      </p:sp>
      <p:sp>
        <p:nvSpPr>
          <p:cNvPr id="16" name="card 3"/>
          <p:cNvSpPr/>
          <p:nvPr/>
        </p:nvSpPr>
        <p:spPr>
          <a:xfrm>
            <a:off x="6163056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66家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達成率 98.7%；66家（58%）仍未達標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19家未達75%，全數來自此群</a:t>
            </a:r>
            <a:endParaRPr lang="en-US" sz="1150" dirty="0"/>
          </a:p>
        </p:txBody>
      </p:sp>
      <p:sp>
        <p:nvSpPr>
          <p:cNvPr id="19" name="step 4"/>
          <p:cNvSpPr/>
          <p:nvPr/>
        </p:nvSpPr>
        <p:spPr>
          <a:xfrm>
            <a:off x="9015984" y="1508760"/>
            <a:ext cx="2697480" cy="457200"/>
          </a:xfrm>
          <a:prstGeom prst="chevron">
            <a:avLst/>
          </a:prstGeom>
          <a:solidFill>
            <a:srgbClr val="960A14"/>
          </a:solidFill>
          <a:ln w="12700">
            <a:solidFill>
              <a:srgbClr val="960A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44584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 缺口由他人填補</a:t>
            </a:r>
            <a:endParaRPr lang="en-US" sz="1400" dirty="0"/>
          </a:p>
        </p:txBody>
      </p:sp>
      <p:sp>
        <p:nvSpPr>
          <p:cNvPr id="21" name="card 4"/>
          <p:cNvSpPr/>
          <p:nvPr/>
        </p:nvSpPr>
        <p:spPr>
          <a:xfrm>
            <a:off x="9015984" y="2057400"/>
            <a:ext cx="2697480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07424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</a:rPr>
              <a:t>7.1億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此群未達成缺口 7.1億（占全行缺口86%）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由超額分行 15.2億 補足</a:t>
            </a:r>
            <a:endParaRPr lang="en-US" sz="1150" dirty="0"/>
          </a:p>
        </p:txBody>
      </p:sp>
      <p:sp>
        <p:nvSpPr>
          <p:cNvPr id="24" name="loop arrow"/>
          <p:cNvSpPr/>
          <p:nvPr/>
        </p:nvSpPr>
        <p:spPr>
          <a:xfrm rot="5400000">
            <a:off x="10881360" y="2011680"/>
            <a:ext cx="822960" cy="457200"/>
          </a:xfrm>
          <a:prstGeom prst="uturnArrow">
            <a:avLst/>
          </a:prstGeom>
          <a:solidFill>
            <a:srgbClr val="C5C5C5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840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7F7F7F"/>
                </a:solidFill>
              </a:rPr>
              <a:t>116年若沿用相同規則，目標再×115%，循環持續</a:t>
            </a:r>
            <a:endParaRPr lang="en-US" sz="1150" dirty="0"/>
          </a:p>
        </p:txBody>
      </p:sp>
      <p:sp>
        <p:nvSpPr>
          <p:cNvPr id="26" name="chip 兩群對照"/>
          <p:cNvSpPr txBox="1"/>
          <p:nvPr/>
        </p:nvSpPr>
        <p:spPr>
          <a:xfrm>
            <a:off x="457200" y="42062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兩群對照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03904"/>
                <a:gridCol w="3813048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115年表現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114年達標群（70家）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114年未達標群（113家）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115年目標 較114年實績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A9B6"/>
                          </a:solidFill>
                        </a:rPr>
                        <a:t>+2.2%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+41.1%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115年達成率（群合計）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A9B6"/>
                          </a:solidFill>
                        </a:rPr>
                        <a:t>116.8%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</a:rPr>
                        <a:t>98.7%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115年仍未達標家數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18家（26%）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66家（58%）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115年未達75%家數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0家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19家（17%）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115年整體達成率分布：183家分行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依115年年化達成率（四捨五入至小數2位，與原檔分群一致）分組計算家數；全行達成 105.9%，但分行間差距極大（52%～215%）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315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ile 達標分行"/>
          <p:cNvSpPr/>
          <p:nvPr/>
        </p:nvSpPr>
        <p:spPr>
          <a:xfrm>
            <a:off x="457200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達標分行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99家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占54%</a:t>
            </a:r>
            <a:endParaRPr lang="en-US" sz="1050" dirty="0"/>
          </a:p>
        </p:txBody>
      </p:sp>
      <p:sp>
        <p:nvSpPr>
          <p:cNvPr id="9" name="tile 未達標分行"/>
          <p:cNvSpPr/>
          <p:nvPr/>
        </p:nvSpPr>
        <p:spPr>
          <a:xfrm>
            <a:off x="2313432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04872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未達標分行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404872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84家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404872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占46%</a:t>
            </a:r>
            <a:endParaRPr lang="en-US" sz="1050" dirty="0"/>
          </a:p>
        </p:txBody>
      </p:sp>
      <p:sp>
        <p:nvSpPr>
          <p:cNvPr id="13" name="tile 達成率中位數"/>
          <p:cNvSpPr/>
          <p:nvPr/>
        </p:nvSpPr>
        <p:spPr>
          <a:xfrm>
            <a:off x="4169664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61104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達成率中位數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261104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101%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261104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簡單平均 105%</a:t>
            </a:r>
            <a:endParaRPr lang="en-US" sz="1050" dirty="0"/>
          </a:p>
        </p:txBody>
      </p:sp>
      <p:sp>
        <p:nvSpPr>
          <p:cNvPr id="17" name="tile 75%～100% 集中區"/>
          <p:cNvSpPr/>
          <p:nvPr/>
        </p:nvSpPr>
        <p:spPr>
          <a:xfrm>
            <a:off x="6025896" y="4846320"/>
            <a:ext cx="1737360" cy="12801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17336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75%～100% 集中區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117336" y="5166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60A14"/>
                </a:solidFill>
              </a:rPr>
              <a:t>65家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117336" y="5742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占36%，最大族群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417320"/>
          <a:ext cx="38862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411480"/>
                <a:gridCol w="502920"/>
                <a:gridCol w="548640"/>
                <a:gridCol w="548640"/>
                <a:gridCol w="502920"/>
                <a:gridCol w="502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115達成率級距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家數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目標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實績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達成率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超額/缺口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180%以上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1.6%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3.16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200%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+1.58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150～180%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2.2%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3.80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6.00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158%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+2.20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120～150%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21.9%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26.52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34.38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130%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+7.87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100～120%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28.4%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35.89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39.47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110%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A9B6"/>
                          </a:solidFill>
                        </a:rPr>
                        <a:t>+3.58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75～100%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35.5%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39.08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34.32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88%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−4.76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未達75%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10.4%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10.98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7.51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68%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−3.47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117.85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124.86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106%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+7.00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7863840" y="38587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</a:rPr>
              <a:t>單位：億元；級距同116年方案1之115年年化達成率分類</a:t>
            </a:r>
            <a:endParaRPr lang="en-US" sz="850" dirty="0"/>
          </a:p>
        </p:txBody>
      </p:sp>
      <p:sp>
        <p:nvSpPr>
          <p:cNvPr id="23" name="insight"/>
          <p:cNvSpPr/>
          <p:nvPr/>
        </p:nvSpPr>
        <p:spPr>
          <a:xfrm>
            <a:off x="7863840" y="4069080"/>
            <a:ext cx="3886200" cy="20574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955280" y="4114800"/>
            <a:ext cx="37033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00000"/>
                </a:solidFill>
              </a:rPr>
              <a:t>解讀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分布呈右偏：半數分行達成率在101%以下，但120%以上有47家（26%）大幅超額，拉高全行至105.9%。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75%～100%是最大族群（65家、36%），這群「差一點達標」的分行缺口4.76億，是116年規則最該關照的對象。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未達75%的19家缺口3.47億，達成率僅68%。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114年 → 115年 分行達成率流向矩陣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列＝114年達成率級距（決定115年規則），欄＝115年年化達成率級距；格內為分行家數，顏色越深家數越多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914400"/>
                <a:gridCol w="548640"/>
                <a:gridCol w="777240"/>
                <a:gridCol w="777240"/>
                <a:gridCol w="777240"/>
                <a:gridCol w="777240"/>
                <a:gridCol w="77724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114年達成率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115年規則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家數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180%以上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150～180%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120～150%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100～120%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75～100%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未達75%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200%以上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實績×70%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150～200%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實績×80%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130～150%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實績×90%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120～130%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實績×101%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110～120%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實績×103%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D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100～110%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實績×105%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B2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D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90～100%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目標×105%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75～90%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目標×110%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D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38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未達75%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</a:rPr>
                        <a:t>目標×115%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2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183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52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19</a:t>
                      </a:r>
                      <a:endParaRPr lang="en-US" sz="1150" dirty="0"/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577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淺紅列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＝114年未達標、115年以「分行目標」加成之分行（113家）；</a:t>
            </a:r>
            <a:pPr indent="0" marL="0">
              <a:buNone/>
            </a:pPr>
            <a:r>
              <a:rPr lang="en-US" sz="1100" b="1" dirty="0">
                <a:solidFill>
                  <a:srgbClr val="960A14"/>
                </a:solidFill>
              </a:rPr>
              <a:t>深紅欄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＝115年未達75%之19家，全部來自淺紅列。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863840" y="1463040"/>
          <a:ext cx="3886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63840" y="5623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114年達成率越低、目標被加成越多，115年落入未達75%的比例越高（8%→17%→29%）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目標拉高幅度 vs 115年達成率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依114年達成率級距彙總（群合計）：上圖＝115年目標較114年實績之成長率，下圖＝115年年化達成率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863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" y="3794760"/>
          <a:ext cx="7863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insight panel"/>
          <p:cNvSpPr/>
          <p:nvPr/>
        </p:nvSpPr>
        <p:spPr>
          <a:xfrm>
            <a:off x="8503920" y="1417320"/>
            <a:ext cx="3246120" cy="46634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chip 解讀"/>
          <p:cNvSpPr txBox="1"/>
          <p:nvPr/>
        </p:nvSpPr>
        <p:spPr>
          <a:xfrm>
            <a:off x="8641080" y="155448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解讀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2011680"/>
            <a:ext cx="301752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A9B6"/>
                </a:solidFill>
              </a:rPr>
              <a:t>績優分行（130%以上）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115年目標反而低於114年實績（−7%～−25%），115年達成率 124%～189%，持續超額。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未達標分行（未達100%）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目標以「分行目標」加成，較114年實績拉高 22%／42%／77%，115年達成率僅 106%／96%／95%。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結論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規則對落後分行加碼最重、對績優分行最寬鬆，形成「越落後、目標越高、越難達成」的反向循環。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115年缺口由誰填補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115年年化：目標 117.85億 → 實績 124.86億（達成 105.9%），整體達標掩蓋了 84 家未達成分行 8.2億 的缺口</a:t>
            </a:r>
            <a:endParaRPr lang="en-US" sz="1300" dirty="0"/>
          </a:p>
        </p:txBody>
      </p:sp>
      <p:sp>
        <p:nvSpPr>
          <p:cNvPr id="4" name="axis"/>
          <p:cNvSpPr/>
          <p:nvPr/>
        </p:nvSpPr>
        <p:spPr>
          <a:xfrm>
            <a:off x="822960" y="4892040"/>
            <a:ext cx="5989320" cy="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</p:sp>
      <p:sp>
        <p:nvSpPr>
          <p:cNvPr id="5" name="bar 115年目標"/>
          <p:cNvSpPr/>
          <p:nvPr/>
        </p:nvSpPr>
        <p:spPr>
          <a:xfrm>
            <a:off x="822960" y="3353105"/>
            <a:ext cx="1188720" cy="1538935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33065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117.85億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115年目標</a:t>
            </a:r>
            <a:endParaRPr lang="en-US" sz="1000" dirty="0"/>
          </a:p>
        </p:txBody>
      </p:sp>
      <p:sp>
        <p:nvSpPr>
          <p:cNvPr id="8" name="bar 115年超額 99家 達標群52＋未達標群47"/>
          <p:cNvSpPr/>
          <p:nvPr/>
        </p:nvSpPr>
        <p:spPr>
          <a:xfrm>
            <a:off x="2423160" y="2040053"/>
            <a:ext cx="1188720" cy="1313052"/>
          </a:xfrm>
          <a:prstGeom prst="rect">
            <a:avLst/>
          </a:prstGeom>
          <a:solidFill>
            <a:srgbClr val="2EA9B6"/>
          </a:solidFill>
          <a:ln w="12700">
            <a:solidFill>
              <a:srgbClr val="2EA9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172001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A9B6"/>
                </a:solidFill>
              </a:rPr>
              <a:t>+15.23億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115年超額 99家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達標群52＋未達標群47</a:t>
            </a:r>
            <a:endParaRPr lang="en-US" sz="1000" dirty="0"/>
          </a:p>
        </p:txBody>
      </p:sp>
      <p:sp>
        <p:nvSpPr>
          <p:cNvPr id="11" name="connector 1"/>
          <p:cNvSpPr/>
          <p:nvPr/>
        </p:nvSpPr>
        <p:spPr>
          <a:xfrm>
            <a:off x="2011680" y="3353105"/>
            <a:ext cx="411480" cy="0"/>
          </a:xfrm>
          <a:prstGeom prst="line">
            <a:avLst/>
          </a:prstGeom>
          <a:noFill/>
          <a:ln w="9525">
            <a:solidFill>
              <a:srgbClr val="C5C5C5"/>
            </a:solidFill>
            <a:prstDash val="dash"/>
          </a:ln>
        </p:spPr>
      </p:sp>
      <p:sp>
        <p:nvSpPr>
          <p:cNvPr id="12" name="bar 115年未達成 84家 達標群18＋未達標群66"/>
          <p:cNvSpPr/>
          <p:nvPr/>
        </p:nvSpPr>
        <p:spPr>
          <a:xfrm>
            <a:off x="4023360" y="2040053"/>
            <a:ext cx="1188720" cy="70868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72001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−8.23億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115年未達成 84家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達標群18＋未達標群66</a:t>
            </a:r>
            <a:endParaRPr lang="en-US" sz="1000" dirty="0"/>
          </a:p>
        </p:txBody>
      </p:sp>
      <p:sp>
        <p:nvSpPr>
          <p:cNvPr id="15" name="connector 2"/>
          <p:cNvSpPr/>
          <p:nvPr/>
        </p:nvSpPr>
        <p:spPr>
          <a:xfrm>
            <a:off x="3611880" y="2040053"/>
            <a:ext cx="411480" cy="0"/>
          </a:xfrm>
          <a:prstGeom prst="line">
            <a:avLst/>
          </a:prstGeom>
          <a:noFill/>
          <a:ln w="9525">
            <a:solidFill>
              <a:srgbClr val="C5C5C5"/>
            </a:solidFill>
            <a:prstDash val="dash"/>
          </a:ln>
        </p:spPr>
      </p:sp>
      <p:sp>
        <p:nvSpPr>
          <p:cNvPr id="16" name="bar 115年年化實績"/>
          <p:cNvSpPr/>
          <p:nvPr/>
        </p:nvSpPr>
        <p:spPr>
          <a:xfrm>
            <a:off x="5623560" y="2748739"/>
            <a:ext cx="1188720" cy="2143301"/>
          </a:xfrm>
          <a:prstGeom prst="rect">
            <a:avLst/>
          </a:prstGeom>
          <a:solidFill>
            <a:srgbClr val="960A14"/>
          </a:solidFill>
          <a:ln w="12700">
            <a:solidFill>
              <a:srgbClr val="960A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2428699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124.86億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115年年化實績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F7F7F"/>
                </a:solidFill>
              </a:rPr>
              <a:t>家數檢核：183家 ＝ 115年超額 99家 ＋ 115年未達成 84家；單位：億元，縱軸自100億起。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114年未達標群113家中，66家再次未達成、缺口 7.1億（占全行缺口86%）；其餘47家超額 6.2億。這些缺口由 99 家超額分行的 15.2億 填補，全行仍達成 105.9%。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00000"/>
                </a:solidFill>
              </a:rPr>
              <a:t>目標加成並未換來實績，只是把缺口轉嫁到其他分行。</a:t>
            </a:r>
            <a:endParaRPr lang="en-US" sz="1050" dirty="0"/>
          </a:p>
        </p:txBody>
      </p:sp>
      <p:sp>
        <p:nvSpPr>
          <p:cNvPr id="20" name="breakdown panel"/>
          <p:cNvSpPr/>
          <p:nvPr/>
        </p:nvSpPr>
        <p:spPr>
          <a:xfrm>
            <a:off x="6949440" y="1417320"/>
            <a:ext cx="4800600" cy="48006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1" name="chip surplus"/>
          <p:cNvSpPr txBox="1"/>
          <p:nvPr/>
        </p:nvSpPr>
        <p:spPr>
          <a:xfrm>
            <a:off x="7086600" y="1490472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2EA9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超額 15.23億 來自誰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828800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114年分群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115年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超額家數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超額金額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9B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達標群（≥100%）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52家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+9.08億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A9B6"/>
                          </a:solidFill>
                        </a:rPr>
                        <a:t>60%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績優 130%以上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+3.76億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100～130%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36家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+5.32億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35%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未達標群（&lt;100%）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47家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+6.16億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40%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90～100%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20家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+2.80億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75～90%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21家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+2.00億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13%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未達75%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+1.36億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9%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99家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+15.23億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chip gap"/>
          <p:cNvSpPr txBox="1"/>
          <p:nvPr/>
        </p:nvSpPr>
        <p:spPr>
          <a:xfrm>
            <a:off x="7086600" y="4041648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缺口 8.23億 來自誰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4370832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114年分群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115年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未達成家數</a:t>
                      </a:r>
                      <a:endParaRPr lang="en-US" sz="9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未達成缺口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達標群（≥100%）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18家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−1.13億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14%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未達標群（&lt;100%）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66家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−7.10億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</a:rPr>
                        <a:t>86%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90～100%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16家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−1.49億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75～90%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32家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−3.43億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42%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　其中 未達75%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18家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−2.18億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26%</a:t>
                      </a:r>
                      <a:endParaRPr lang="en-US" sz="10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84家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−8.23億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打破循環：116年方案1對未達75%分行的效果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</a:rPr>
              <a:t>115年未達75%之19家分行（115年目標 10.98億、年化實績 7.51億、達成率 68%）在兩種116年規則下的目標比較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沿用115年規則"/>
          <p:cNvSpPr/>
          <p:nvPr/>
        </p:nvSpPr>
        <p:spPr>
          <a:xfrm>
            <a:off x="7315200" y="1463040"/>
            <a:ext cx="4434840" cy="17830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52360" y="1554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沿用115年規則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8745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12.62億  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較115年實績 +68%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4231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目標再疊加 15%，與實績差距擴大至 5.1億，第三年落入同一循環</a:t>
            </a:r>
            <a:endParaRPr lang="en-US" sz="1150" dirty="0"/>
          </a:p>
        </p:txBody>
      </p:sp>
      <p:sp>
        <p:nvSpPr>
          <p:cNvPr id="9" name="card 116年方案1"/>
          <p:cNvSpPr/>
          <p:nvPr/>
        </p:nvSpPr>
        <p:spPr>
          <a:xfrm>
            <a:off x="7315200" y="3383280"/>
            <a:ext cx="4434840" cy="17830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3474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9B6"/>
                </a:solidFill>
              </a:rPr>
              <a:t>116年方案1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37947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A9B6"/>
                </a:solidFill>
              </a:rPr>
              <a:t>7.74億  </a:t>
            </a:r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較115年實績 +3%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43434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回到實績基礎，目標可達；差額 4.9億 改由 綜合指標（15%）與績優分行承擔</a:t>
            </a:r>
            <a:endParaRPr lang="en-US" sz="1150" dirty="0"/>
          </a:p>
        </p:txBody>
      </p:sp>
      <p:sp>
        <p:nvSpPr>
          <p:cNvPr id="13" name="conclusion box"/>
          <p:cNvSpPr/>
          <p:nvPr/>
        </p:nvSpPr>
        <p:spPr>
          <a:xfrm>
            <a:off x="7315200" y="5349240"/>
            <a:ext cx="44348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06640" y="5376672"/>
            <a:ext cx="4251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</a:rPr>
              <a:t>建議：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落後分行以實績為基礎設定地板、績優分行以折扣設定天花板，讓目標回到「可達成且有成長」的區間。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CB Red">
  <a:themeElements>
    <a:clrScheme name="HNCB Red">
      <a:dk1>
        <a:srgbClr val="000000"/>
      </a:dk1>
      <a:lt1>
        <a:srgbClr val="FFFFFF"/>
      </a:lt1>
      <a:dk2>
        <a:srgbClr val="960A14"/>
      </a:dk2>
      <a:lt2>
        <a:srgbClr val="FDF1E9"/>
      </a:lt2>
      <a:accent1>
        <a:srgbClr val="C00000"/>
      </a:accent1>
      <a:accent2>
        <a:srgbClr val="7F7F7F"/>
      </a:accent2>
      <a:accent3>
        <a:srgbClr val="D96C6C"/>
      </a:accent3>
      <a:accent4>
        <a:srgbClr val="2EA9B6"/>
      </a:accent4>
      <a:accent5>
        <a:srgbClr val="C5C5C5"/>
      </a:accent5>
      <a:accent6>
        <a:srgbClr val="FFC000"/>
      </a:accent6>
      <a:hlink>
        <a:srgbClr val="C00000"/>
      </a:hlink>
      <a:folHlink>
        <a:srgbClr val="960A14"/>
      </a:folHlink>
    </a:clrScheme>
    <a:fontScheme name="HNCB Red">
      <a:majorFont>
        <a:latin typeface="微軟正黑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軟正黑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財富管理手續費收入目標訂定原則比較（115年 vs 116年方案1/方案2）</dc:title>
  <dc:subject>PptxGenJS Presentation</dc:subject>
  <dc:creator>PptxGenJS</dc:creator>
  <cp:lastModifiedBy>PptxGenJS</cp:lastModifiedBy>
  <cp:revision>1</cp:revision>
  <dcterms:created xsi:type="dcterms:W3CDTF">2026-10-21T08:57:20Z</dcterms:created>
  <dcterms:modified xsi:type="dcterms:W3CDTF">2026-10-21T08:57:20Z</dcterms:modified>
</cp:coreProperties>
</file>